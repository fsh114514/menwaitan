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89320" y="658368"/>
            <a:ext cx="5852160" cy="548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0" b="1">
                <a:solidFill>
                  <a:srgbClr val="E7DFCB"/>
                </a:solidFill>
                <a:latin typeface="宋体"/>
              </a:rPr>
              <a:t>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8595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60">
                <a:solidFill>
                  <a:srgbClr val="A3272C"/>
                </a:solidFill>
                <a:latin typeface="微软雅黑"/>
              </a:rPr>
              <a:t>2026 年第十四届全国大学生数字媒体科技作品及创意竞赛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453295" cy="134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798064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50" b="0" spc="40">
                <a:solidFill>
                  <a:srgbClr val="5A5147"/>
                </a:solidFill>
                <a:latin typeface="微软雅黑"/>
              </a:rPr>
              <a:t>——基于信息不对称机制的多智能体圆桌辩论系统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73552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spc="80">
                <a:solidFill>
                  <a:srgbClr val="A3272C"/>
                </a:solidFill>
                <a:latin typeface="微软雅黑"/>
              </a:rPr>
              <a:t>一个让多位思想者同桌交锋的思辨工具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694176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6849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作品编号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395935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375993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33425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参赛分类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32511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自主选题类 · 移动与网络应用开发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70001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完成人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69087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冯思涵 · 张耀羽（哈尔滨金融学院）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06577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指导教师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505663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胡芳驰 · 霍镜宇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43153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在线地址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42239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https://outgate.chat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1688571" cy="10500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761488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500">
                <a:solidFill>
                  <a:srgbClr val="A3272C"/>
                </a:solidFill>
                <a:latin typeface="微软雅黑"/>
              </a:rPr>
              <a:t>CONTENT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200400"/>
            <a:ext cx="237744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06440" y="1481328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3368" y="138988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选题背景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59" y="1517904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为什么做这个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1993392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2267712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2176272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作品设计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59" y="2304288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它由什么构成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06440" y="2779776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3054096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962656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系统实现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59" y="3090672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怎么落地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06440" y="3566160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06440" y="3840480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374904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验证与效果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59" y="3877056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改前改后差在哪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06440" y="4352544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4626864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453542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创新与应用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59" y="4663440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新在哪、给谁用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06440" y="5138928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5413248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532180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在线体验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59" y="5449824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现在就能打开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06440" y="5925312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20624"/>
            <a:ext cx="68580" cy="67665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20624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344" y="365760"/>
            <a:ext cx="2710538" cy="3230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27632" y="932688"/>
            <a:ext cx="9674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80">
                <a:solidFill>
                  <a:srgbClr val="5A5147"/>
                </a:solidFill>
                <a:latin typeface="微软雅黑"/>
              </a:rPr>
              <a:t>一、选题背景 · 一次小组讨论通常怎么结束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37943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200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一次小组讨论，通常是这样结束的：</a:t>
            </a:r>
          </a:p>
          <a:p>
            <a:pPr algn="l">
              <a:lnSpc>
                <a:spcPct val="200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说得最大声的那个人定了调，其余的人点头；</a:t>
            </a:r>
          </a:p>
          <a:p>
            <a:pPr algn="l">
              <a:lnSpc>
                <a:spcPct val="200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真正不同意的那个，从头到尾没开口。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55264"/>
            <a:ext cx="48463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真正被讨论的，往往是最容易达成一致的那部分。</a:t>
            </a:r>
          </a:p>
          <a:p>
            <a:pPr algn="l">
              <a:lnSpc>
                <a:spcPct val="19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分歧最大的地方，从第一分钟起就被绕开了。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498848"/>
            <a:ext cx="50292" cy="42062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535424"/>
            <a:ext cx="4663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80">
                <a:solidFill>
                  <a:srgbClr val="A3272C"/>
                </a:solidFill>
                <a:latin typeface="微软雅黑"/>
              </a:rPr>
              <a:t>于是问题被绕过去了。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1874519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1" y="1819655"/>
            <a:ext cx="1280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spc="200">
                <a:solidFill>
                  <a:srgbClr val="17120D"/>
                </a:solidFill>
                <a:latin typeface="宋体"/>
              </a:rPr>
              <a:t>抢话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1874519"/>
            <a:ext cx="3419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谁先开口，谁就定了调子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2660903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990087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1" y="2935223"/>
            <a:ext cx="1280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spc="200">
                <a:solidFill>
                  <a:srgbClr val="17120D"/>
                </a:solidFill>
                <a:latin typeface="宋体"/>
              </a:rPr>
              <a:t>重复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990087"/>
            <a:ext cx="3419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三个人说的是同一件事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3776472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9320" y="4105656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1" y="4050792"/>
            <a:ext cx="1280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spc="200">
                <a:solidFill>
                  <a:srgbClr val="17120D"/>
                </a:solidFill>
                <a:latin typeface="宋体"/>
              </a:rPr>
              <a:t>沉默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105656"/>
            <a:ext cx="3419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最该说话的人不开口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760720"/>
            <a:ext cx="105430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17120D"/>
                </a:solidFill>
                <a:latin typeface="微软雅黑"/>
              </a:rPr>
              <a:t>讨论不是没进行，是没有产生分歧——而分歧恰恰是讨论唯一有价值的东西。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20624"/>
            <a:ext cx="68580" cy="67665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20624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344" y="365760"/>
            <a:ext cx="3486657" cy="3230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27632" y="932688"/>
            <a:ext cx="9674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80">
                <a:solidFill>
                  <a:srgbClr val="5A5147"/>
                </a:solidFill>
                <a:latin typeface="微软雅黑"/>
              </a:rPr>
              <a:t>一、选题背景 · 作品概念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37943"/>
            <a:ext cx="47548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既然讨论的价值在于分歧，那就先把分歧摆上桌。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门外谈是一个网站，也是一张桌子：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你把一个问题摆在桌上，请几位思想者入席，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看他们当场各执一词。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他们看得见彼此说过的话，也可以被单独告知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一些别人不知道的事。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837943"/>
            <a:ext cx="4480560" cy="1042415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27064" y="2002536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160">
                <a:solidFill>
                  <a:srgbClr val="A3272C"/>
                </a:solidFill>
                <a:latin typeface="宋体"/>
              </a:rPr>
              <a:t>信息层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7064" y="2441448"/>
            <a:ext cx="4041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A3272C"/>
                </a:solidFill>
                <a:latin typeface="微软雅黑"/>
              </a:rPr>
              <a:t>谁被谁看见了　·　本届新增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2880359"/>
            <a:ext cx="4480560" cy="1042415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27064" y="3044951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160">
                <a:solidFill>
                  <a:srgbClr val="17120D"/>
                </a:solidFill>
                <a:latin typeface="宋体"/>
              </a:rPr>
              <a:t>圆桌层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3483863"/>
            <a:ext cx="4041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多位思想者轮流发言，后说的人看得到前文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3922775"/>
            <a:ext cx="4480560" cy="1042415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4087367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160">
                <a:solidFill>
                  <a:srgbClr val="17120D"/>
                </a:solidFill>
                <a:latin typeface="宋体"/>
              </a:rPr>
              <a:t>人格层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7064" y="4526279"/>
            <a:ext cx="4041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34 位蒸馏人格，各自带着自己的立场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5111496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红色这一层，是本届新做的部分。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828032"/>
            <a:ext cx="50292" cy="10058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4864608"/>
            <a:ext cx="45720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350" b="1">
                <a:solidFill>
                  <a:srgbClr val="17120D"/>
                </a:solidFill>
                <a:latin typeface="微软雅黑"/>
              </a:rPr>
              <a:t>人格决定他们想什么，</a:t>
            </a:r>
          </a:p>
          <a:p>
            <a:pPr algn="l">
              <a:lnSpc>
                <a:spcPct val="180000"/>
              </a:lnSpc>
            </a:pPr>
            <a:r>
              <a:rPr sz="1350" b="1">
                <a:solidFill>
                  <a:srgbClr val="17120D"/>
                </a:solidFill>
                <a:latin typeface="微软雅黑"/>
              </a:rPr>
              <a:t>圆桌决定他们怎么说话，</a:t>
            </a:r>
          </a:p>
          <a:p>
            <a:pPr algn="l">
              <a:lnSpc>
                <a:spcPct val="180000"/>
              </a:lnSpc>
            </a:pPr>
            <a:r>
              <a:rPr sz="1350" b="1">
                <a:solidFill>
                  <a:srgbClr val="17120D"/>
                </a:solidFill>
                <a:latin typeface="微软雅黑"/>
              </a:rPr>
              <a:t>信息层决定他们会不会吵起来。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20624"/>
            <a:ext cx="68580" cy="67665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20624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344" y="365760"/>
            <a:ext cx="2868901" cy="3230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27632" y="932688"/>
            <a:ext cx="9674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80">
                <a:solidFill>
                  <a:srgbClr val="5A5147"/>
                </a:solidFill>
                <a:latin typeface="微软雅黑"/>
              </a:rPr>
              <a:t>二、作品设计 · 人物介绍之一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19656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一般做法是给模型一句人设：「你是鲁迅，说话犀利」。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模型于是变得犀利——但那是你要的犀利，不是鲁迅的。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蒸馏人格是另一回事：把一个人拆成可执行的几节。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84448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6" y="356616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核心身份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67712" y="356616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他是谁。第一人称发言，明确不是替你写作的工具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3308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6" y="4114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思想根基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411480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在什么问题上必然持什么立场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68172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466344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语言特征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7712" y="466344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句式、修辞、结构、意象，逐条写成约束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3036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521207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语录库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7712" y="5212079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收他的原话，用来校准语气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797296"/>
            <a:ext cx="50292" cy="36576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2416" y="5833872"/>
            <a:ext cx="47548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17120D"/>
                </a:solidFill>
                <a:latin typeface="微软雅黑"/>
              </a:rPr>
              <a:t>所以他不顺着你说话——因为他本来就有立场。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801368"/>
            <a:ext cx="5074920" cy="385876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59" y="2020824"/>
            <a:ext cx="4526280" cy="3246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---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name: luxun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---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# 鲁迅 · 人物志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你就是鲁迅本人，不是任何人的视角替身，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更不是写作工具。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## 思想根基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批判精神 · 国民性分析 · 文学救国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## 写作风格指南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语言特征 · 修辞技法 · 结构模式 · 意象体系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769864"/>
            <a:ext cx="5074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鲁迅那份 SKILL.md 的真实开头 · 站内 34 份、合计约 40 万字节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20624"/>
            <a:ext cx="68580" cy="67665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20624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344" y="365760"/>
            <a:ext cx="2715124" cy="3230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27632" y="932688"/>
            <a:ext cx="9674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80">
                <a:solidFill>
                  <a:srgbClr val="5A5147"/>
                </a:solidFill>
                <a:latin typeface="微软雅黑"/>
              </a:rPr>
              <a:t>二、作品设计 · 人物介绍之二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19656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桌上的人物不是我们凭空造的。</a:t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它们原本散落在开源社区的不同仓库里：格式统一为 SKILL.md，但体例、文案、可用程度各不相同。</a:t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本作品做的是把它们汇总、筛选、补齐、接入——统一中英文名与首字标记，标注每一份的上游仓库，并逐位调校到能在同一张桌上说话不跑题。</a:t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站内没有的人物，用户可以在「创意工坊」粘贴仓库地址实时导入。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1764792"/>
            <a:ext cx="6309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40">
                <a:solidFill>
                  <a:srgbClr val="9A9388"/>
                </a:solidFill>
                <a:latin typeface="微软雅黑"/>
              </a:rPr>
              <a:t>站内人物 34 位（3 位内置 + 31 位开源社区导入）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2057400"/>
            <a:ext cx="629107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0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7120D"/>
                </a:solidFill>
                <a:latin typeface="微软雅黑"/>
              </a:rPr>
              <a:t>鲁迅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3134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7120D"/>
                </a:solidFill>
                <a:latin typeface="微软雅黑"/>
              </a:rPr>
              <a:t>哈耶克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91348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7120D"/>
                </a:solidFill>
                <a:latin typeface="微软雅黑"/>
              </a:rPr>
              <a:t>凯恩斯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49563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柏拉图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7777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孔子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马克思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134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乔布斯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91348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马斯克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49563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尼采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07777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福柯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苏格拉底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3134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维特根斯坦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91348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爱因斯坦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9563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图灵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07777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黄仁勋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巴菲特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3134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达利欧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91348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波伏娃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49563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亚里士多德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07777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亚当·斯密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康德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3134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达尔文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91348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罗素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49563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奥威尔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07777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加缪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74920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马丁·路德·金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33134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福尔摩斯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91348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梵高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49563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薛定谔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07777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丘吉尔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74920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爱丽丝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3134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牛顿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91348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叔本华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49563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莎士比亚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74920" y="4928616"/>
            <a:ext cx="6309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深色为内置，浅色为开源社区导入。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20624"/>
            <a:ext cx="68580" cy="67665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20624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05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344" y="365760"/>
            <a:ext cx="3114209" cy="3230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27632" y="932688"/>
            <a:ext cx="9674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80">
                <a:solidFill>
                  <a:srgbClr val="5A5147"/>
                </a:solidFill>
                <a:latin typeface="微软雅黑"/>
              </a:rPr>
              <a:t>二、作品设计 · 圆桌机制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43584" y="1837943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轮流发言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874519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每位依次开口，后说的人能看到前面说了什么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770632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3584" y="2734056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座次可调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770632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拖动卡片调整发言顺序，手机上长按拖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666744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3584" y="3630168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人数定形式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666744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1 位＝单人对谈，2 位以上＝圆桌辩论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562856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3584" y="4526280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火候三档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62856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随口 / 较真 / 上头，控制回答长短，气氛上来自动升级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541264"/>
            <a:ext cx="50292" cy="45720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5577840"/>
            <a:ext cx="49377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>
                <a:solidFill>
                  <a:srgbClr val="17120D"/>
                </a:solidFill>
                <a:latin typeface="微软雅黑"/>
              </a:rPr>
              <a:t>次序解决的是「谁能说」，还没解决「为什么吵」。</a:t>
            </a:r>
          </a:p>
        </p:txBody>
      </p:sp>
      <p:pic>
        <p:nvPicPr>
          <p:cNvPr id="22" name="Picture 21" descr="v4shot_04-圆桌辩论-公开交锋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1031" y="1837943"/>
            <a:ext cx="5394960" cy="260092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971031" y="4530309"/>
            <a:ext cx="5394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真实圆桌对话 · 三位已入席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20624"/>
            <a:ext cx="68580" cy="67665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20624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06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344" y="365760"/>
            <a:ext cx="2837116" cy="3096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27632" y="932688"/>
            <a:ext cx="9674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80">
                <a:solidFill>
                  <a:srgbClr val="5A5147"/>
                </a:solidFill>
                <a:latin typeface="微软雅黑"/>
              </a:rPr>
              <a:t>二、作品设计 · 信息层之一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每条发言带一个可见性标记（public 或某个人）。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生成每位发言者的回复时，只投喂他有权读到的那部分历史——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不是前端隐藏，是根本没有进入他的上下文。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结果：同一张桌子上，三个人拿着三份不同的信息。</a:t>
            </a:r>
          </a:p>
        </p:txBody>
      </p:sp>
      <p:pic>
        <p:nvPicPr>
          <p:cNvPr id="11" name="Picture 10" descr="v4shot_05-悄悄话消息-仅一人可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370379"/>
            <a:ext cx="5257800" cy="26110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8192" y="5072836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这条消息只有一个人看得到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20624"/>
            <a:ext cx="68580" cy="67665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20624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07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344" y="365760"/>
            <a:ext cx="2727090" cy="3096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27632" y="932688"/>
            <a:ext cx="9674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80">
                <a:solidFill>
                  <a:srgbClr val="5A5147"/>
                </a:solidFill>
                <a:latin typeface="微软雅黑"/>
              </a:rPr>
              <a:t>二、作品设计 · 信息层之二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点「私下说」，选一个人。说出的话只有他看得到。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选定后按钮变红并显示对方名字，上方出现状态栏提醒你正在对谁低语。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悄悄话原文不写日志，也不参与联网检索——否则会被搜成场外情报。</a:t>
            </a:r>
          </a:p>
        </p:txBody>
      </p:sp>
      <p:pic>
        <p:nvPicPr>
          <p:cNvPr id="11" name="Picture 10" descr="07-悄悄话入口与人选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077586"/>
            <a:ext cx="5257800" cy="31966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8192" y="536562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点开「私下说」→ 选人 → 按钮变红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20624"/>
            <a:ext cx="68580" cy="67665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20624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08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344" y="365760"/>
            <a:ext cx="2809939" cy="3096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27632" y="932688"/>
            <a:ext cx="9674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80">
                <a:solidFill>
                  <a:srgbClr val="5A5147"/>
                </a:solidFill>
                <a:latin typeface="微软雅黑"/>
              </a:rPr>
              <a:t>二、作品设计 · 信息层之三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被私下告知的人，往往会在下一轮把这句公开带出来，当众点名对方。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被点名的人不知道情报从哪来，只能正面接。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被点名者被要求不得用「我同意」开场——讨论从轮流发言变成有暗流的博弈。</a:t>
            </a:r>
          </a:p>
        </p:txBody>
      </p:sp>
      <p:pic>
        <p:nvPicPr>
          <p:cNvPr id="11" name="Picture 10" descr="v4shot_06-点名对质-当众摊牌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102124"/>
            <a:ext cx="5257800" cy="314752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8192" y="5341091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鲁迅当众点名乔布斯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20624"/>
            <a:ext cx="68580" cy="67665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20624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09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344" y="365760"/>
            <a:ext cx="2741976" cy="3096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27632" y="932688"/>
            <a:ext cx="9674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80">
                <a:solidFill>
                  <a:srgbClr val="5A5147"/>
                </a:solidFill>
                <a:latin typeface="微软雅黑"/>
              </a:rPr>
              <a:t>二、作品设计 · 机制兜底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每一轮用字符 2-gram 重叠率估算这一轮说出了多少新东西。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判定趋同，先强制每位发言者提一个反对意见；仍无新意，主持人亲自出面拆穿。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这个数字不展示给用户看——只在他们真的开始互相附和时，变成一条系统按语。</a:t>
            </a:r>
          </a:p>
        </p:txBody>
      </p:sp>
      <p:pic>
        <p:nvPicPr>
          <p:cNvPr id="11" name="Picture 10" descr="v4shot_03-主持人收尾-拆穿伪共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260326"/>
            <a:ext cx="5257800" cy="283112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8192" y="518288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系统按语 + 主持人收尾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20624"/>
            <a:ext cx="68580" cy="67665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20624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10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344" y="365760"/>
            <a:ext cx="2848509" cy="3230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27632" y="932688"/>
            <a:ext cx="9674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80">
                <a:solidFill>
                  <a:srgbClr val="5A5147"/>
                </a:solidFill>
                <a:latin typeface="微软雅黑"/>
              </a:rPr>
              <a:t>三、系统实现 · 技术架构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928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客户端</a:t>
            </a:r>
          </a:p>
        </p:txBody>
      </p:sp>
      <p:sp>
        <p:nvSpPr>
          <p:cNvPr id="9" name="Rectangle 8"/>
          <p:cNvSpPr/>
          <p:nvPr/>
        </p:nvSpPr>
        <p:spPr>
          <a:xfrm>
            <a:off x="1901952" y="1764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29968" y="1892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浏览器 Web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97979" y="1764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25995" y="1892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移动端 Web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57860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前端层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1952" y="2450591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29968" y="25786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app/page.tsx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97979" y="2450591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25995" y="25786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Next.js App Router · SSE 流式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26440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接口层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01952" y="3136391"/>
            <a:ext cx="3069336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29968" y="3264408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POST /api/chat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99304" y="3136391"/>
            <a:ext cx="3069336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27320" y="3264408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GET /api/characters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6656" y="3136391"/>
            <a:ext cx="3069336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24672" y="3264408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POST /api/import-skill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39502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核心层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01952" y="3822191"/>
            <a:ext cx="9464040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48256" y="3950207"/>
            <a:ext cx="9189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A3272C"/>
                </a:solidFill>
                <a:latin typeface="微软雅黑"/>
              </a:rPr>
              <a:t>圆桌调度器  →  可见性过滤器  →  模型调用  →  输出装配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6360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模型层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01952" y="45079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29968" y="46360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智谱 GLM-4-Flash（默认）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97979" y="45079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25995" y="46360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BYOK · 任意 OpenAI 兼容接口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3218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部署层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01952" y="5193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29968" y="5321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阿里云香港 · podman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97979" y="5193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25995" y="5321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nginx 反代 · HTTPS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05332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每条发言带「public / 仅某人可见」标记；组装 prompt 之前按可见性裁剪历史。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20624"/>
            <a:ext cx="68580" cy="67665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20624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11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344" y="365760"/>
            <a:ext cx="2629577" cy="3230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27632" y="932688"/>
            <a:ext cx="9674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80">
                <a:solidFill>
                  <a:srgbClr val="5A5147"/>
                </a:solidFill>
                <a:latin typeface="微软雅黑"/>
              </a:rPr>
              <a:t>四、验证与效果 · v1 与 v2 对照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37943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200">
                <a:solidFill>
                  <a:srgbClr val="9A9388"/>
                </a:solidFill>
                <a:latin typeface="微软雅黑"/>
              </a:rPr>
              <a:t>v1 · 没有信息层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167128"/>
            <a:ext cx="475488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13432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鲁迅：学外语的意义，绝不仅仅在于翻译与写作……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乔布斯：我同意鲁迅的观点。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→ 两个立场最互斥的人，第一轮就合流。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97880" y="1828800"/>
            <a:ext cx="10972" cy="356616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837943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200">
                <a:solidFill>
                  <a:srgbClr val="A3272C"/>
                </a:solidFill>
                <a:latin typeface="微软雅黑"/>
              </a:rPr>
              <a:t>v2 · 有信息层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167128"/>
            <a:ext cx="4754880" cy="1905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2313432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鲁迅（收到悄悄话）：乔布斯那套「追随内心」，我怀疑是幸存者偏差——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乔布斯（被点名）：你说得对，我不是一个人做成的。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→ 桌上有人揣着话，有人被点了名。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1389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212080"/>
            <a:ext cx="10543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17120D"/>
                </a:solidFill>
                <a:latin typeface="微软雅黑"/>
              </a:rPr>
              <a:t>差别不在人格写得多像，在于这几个人掌握的信息不再相同。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705856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3272C"/>
                </a:solidFill>
                <a:latin typeface="宋体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6" y="5742432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00">
                <a:solidFill>
                  <a:srgbClr val="17120D"/>
                </a:solidFill>
                <a:latin typeface="微软雅黑"/>
              </a:rPr>
              <a:t>项机制测试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998464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T1–T9 逐项实测，全部通过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7304" y="5705856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3272C"/>
                </a:solidFill>
                <a:latin typeface="宋体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1080" y="5742432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00">
                <a:solidFill>
                  <a:srgbClr val="17120D"/>
                </a:solidFill>
                <a:latin typeface="微软雅黑"/>
              </a:rPr>
              <a:t>处泄漏已修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31080" y="5998464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悄悄话串进检索、写入日志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51647" y="5705856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3272C"/>
                </a:solidFill>
                <a:latin typeface="宋体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5423" y="5742432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00">
                <a:solidFill>
                  <a:srgbClr val="17120D"/>
                </a:solidFill>
                <a:latin typeface="微软雅黑"/>
              </a:rPr>
              <a:t>个关键回归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5423" y="5998464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摊牌真的触发，不是摆样子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20624"/>
            <a:ext cx="68580" cy="67665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20624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12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344" y="365760"/>
            <a:ext cx="3067853" cy="3230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27632" y="932688"/>
            <a:ext cx="9674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80">
                <a:solidFill>
                  <a:srgbClr val="5A5147"/>
                </a:solidFill>
                <a:latin typeface="微软雅黑"/>
              </a:rPr>
              <a:t>五、创新与应用 · 创新点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892807"/>
            <a:ext cx="50292" cy="8412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1856231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机制创新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810511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把「信息差」做成可操作的三步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2221991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可见性 → 悄悄话 → 点名对质。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不是让角色更凶，而是改变谁知道什么。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209544"/>
            <a:ext cx="50292" cy="8412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172968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交互创新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3127248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用户从提问者变成信息分配者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538727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一次私下告知，就能改变整场讨论的走向。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用户做的事情，从「问问题」变成「决定谁掌握什么」。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526280"/>
            <a:ext cx="50292" cy="8412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" y="4489704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工程创新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4443984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信息裁剪在服务端完成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4855464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按接收者裁剪上下文，不可见的内容根本不进 prompt；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悄悄话不写日志、不参与联网检索。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88736"/>
            <a:ext cx="105430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9A9388"/>
                </a:solidFill>
                <a:latin typeface="微软雅黑"/>
              </a:rPr>
              <a:t>三点合起来回答一个问题：为什么这些角色能吵起来，而不是互相附和。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20624"/>
            <a:ext cx="68580" cy="67665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20624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13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344" y="365760"/>
            <a:ext cx="2972409" cy="3230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27632" y="932688"/>
            <a:ext cx="9674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80">
                <a:solidFill>
                  <a:srgbClr val="5A5147"/>
                </a:solidFill>
                <a:latin typeface="微软雅黑"/>
              </a:rPr>
              <a:t>五、创新与应用 · 应用场景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874519"/>
            <a:ext cx="3361943" cy="184708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093976"/>
            <a:ext cx="3291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386584"/>
            <a:ext cx="290474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宋体"/>
              </a:rPr>
              <a:t>课堂小组研讨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3063239"/>
            <a:ext cx="29047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发言有次序，观点有记录。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老师能看见谁在什么时候改变了立场。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874519"/>
            <a:ext cx="3361943" cy="184708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1247" y="2093976"/>
            <a:ext cx="3291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1247" y="2386584"/>
            <a:ext cx="290474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宋体"/>
              </a:rPr>
              <a:t>英语辩论与口语训练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1247" y="3063239"/>
            <a:ext cx="29047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立场由人格给定，不靠临场想。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可以先私下「通气」，练接招。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4047" y="1874519"/>
            <a:ext cx="3361943" cy="184708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1791" y="2093976"/>
            <a:ext cx="3291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1791" y="2386584"/>
            <a:ext cx="290474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宋体"/>
              </a:rPr>
              <a:t>议题讨论与写作构思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1791" y="3063239"/>
            <a:ext cx="29047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先把分歧摆出来，再决定自己站哪边。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比一上来就找论据更接近真实思考。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370832"/>
            <a:ext cx="50292" cy="93268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4407408"/>
            <a:ext cx="1026871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300" b="0">
                <a:solidFill>
                  <a:srgbClr val="17120D"/>
                </a:solidFill>
                <a:latin typeface="微软雅黑"/>
              </a:rPr>
              <a:t>为什么这些场景成立：门外谈不是一个聊天玩具，是一张有规则的桌子。</a:t>
            </a:r>
          </a:p>
          <a:p>
            <a:pPr algn="l">
              <a:lnSpc>
                <a:spcPct val="180000"/>
              </a:lnSpc>
            </a:pPr>
            <a:r>
              <a:rPr sz="1300" b="0">
                <a:solidFill>
                  <a:srgbClr val="17120D"/>
                </a:solidFill>
                <a:latin typeface="微软雅黑"/>
              </a:rPr>
              <a:t>规则固定下来，才能反复练习；反复练习，才谈得上训练。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80">
                <a:solidFill>
                  <a:srgbClr val="A3272C"/>
                </a:solidFill>
                <a:latin typeface="微软雅黑"/>
              </a:rPr>
              <a:t>14  六、在线体验</a:t>
            </a:r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4548642" cy="83464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2834640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127248"/>
            <a:ext cx="6766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outgate.chat　免费、无需注册，手机上也能用。</a:t>
            </a:r>
          </a:p>
          <a:p>
            <a:pPr algn="l">
              <a:lnSpc>
                <a:spcPct val="18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选择一个议题，请两三位入席，然后私下对其中一个人说点什么。</a:t>
            </a:r>
          </a:p>
        </p:txBody>
      </p:sp>
      <p:pic>
        <p:nvPicPr>
          <p:cNvPr id="8" name="Picture 7" descr="qr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0" y="1325880"/>
            <a:ext cx="1920240" cy="1920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235440" y="3346704"/>
            <a:ext cx="1920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扫码直接进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6766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冯思涵 · 张耀羽　哈尔滨金融学院</a:t>
            </a: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指导教师：胡芳驰 · 霍镜宇　　作品编号：375993</a:t>
            </a:r>
          </a:p>
        </p:txBody>
      </p:sp>
      <p:pic>
        <p:nvPicPr>
          <p:cNvPr id="11" name="Picture 10" descr="d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870448"/>
            <a:ext cx="1408419" cy="4038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