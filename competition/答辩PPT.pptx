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37960" y="621792"/>
            <a:ext cx="5212080" cy="5577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5000" b="1">
                <a:solidFill>
                  <a:srgbClr val="E7DFCB"/>
                </a:solidFill>
                <a:latin typeface="宋体"/>
              </a:rPr>
              <a:t>辩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786384"/>
            <a:ext cx="8229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160">
                <a:solidFill>
                  <a:srgbClr val="A3272C"/>
                </a:solidFill>
                <a:latin typeface="微软雅黑"/>
              </a:rPr>
              <a:t>2026 年第十四届全国大学生数字媒体科技作品及创意竞赛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298448"/>
            <a:ext cx="3453295" cy="1346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834640"/>
            <a:ext cx="6309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750" b="0" spc="40">
                <a:solidFill>
                  <a:srgbClr val="5A5147"/>
                </a:solidFill>
                <a:latin typeface="微软雅黑"/>
              </a:rPr>
              <a:t>——基于信息不对称机制的多智能体圆桌辩论系统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3364992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3749039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作品编号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65960" y="3739896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133087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参赛分类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65960" y="4123944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自主选题类 · 移动与网络应用开发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4517136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完成人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65960" y="4507992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冯思涵 · 张耀羽（哈尔滨金融学院）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901183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指导教师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892040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胡芳驰 · 霍镜宇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285231"/>
            <a:ext cx="10515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 spc="120">
                <a:solidFill>
                  <a:srgbClr val="9A9388"/>
                </a:solidFill>
                <a:latin typeface="微软雅黑"/>
              </a:rPr>
              <a:t>在线地址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65960" y="5276088"/>
            <a:ext cx="566928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40">
                <a:solidFill>
                  <a:srgbClr val="17120D"/>
                </a:solidFill>
                <a:latin typeface="微软雅黑"/>
              </a:rPr>
              <a:t>https://outgate.chat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96012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一句话</a:t>
            </a:r>
          </a:p>
        </p:txBody>
      </p:sp>
      <p:pic>
        <p:nvPicPr>
          <p:cNvPr id="5" name="Picture 4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5243389" cy="166928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822960" y="4041648"/>
            <a:ext cx="310896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370832"/>
            <a:ext cx="78638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大多数多智能体产品比拼的是人格写得多像；</a:t>
            </a:r>
          </a:p>
          <a:p>
            <a:pPr algn="l">
              <a:lnSpc>
                <a:spcPct val="17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这里动的是另一件事——每个人掌握了什么信息。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01 · 问题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094555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57400"/>
            <a:ext cx="5138928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现在几乎所有 AI 圆桌，都让所有角色共享同一份上下文。</a:t>
            </a:r>
          </a:p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于是谁都知道别人说了什么，几轮之内必然趋同——</a:t>
            </a:r>
          </a:p>
          <a:p>
            <a:pPr algn="l">
              <a:lnSpc>
                <a:spcPct val="200000"/>
              </a:lnSpc>
            </a:pPr>
            <a:r>
              <a:rPr sz="1600" b="0">
                <a:solidFill>
                  <a:srgbClr val="5A5147"/>
                </a:solidFill>
                <a:latin typeface="微软雅黑"/>
              </a:rPr>
              <a:t>看起来在辩论，实际在互相附和。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160520"/>
            <a:ext cx="50292" cy="14173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4224528"/>
            <a:ext cx="521208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「我同意鲁迅的观点。」</a:t>
            </a:r>
          </a:p>
          <a:p>
            <a:pPr algn="l">
              <a:lnSpc>
                <a:spcPct val="185000"/>
              </a:lnSpc>
            </a:pPr>
            <a:r>
              <a:rPr sz="1700" b="0">
                <a:solidFill>
                  <a:srgbClr val="17120D"/>
                </a:solidFill>
                <a:latin typeface="微软雅黑"/>
              </a:rPr>
              <a:t>——两位立场最互斥的人，第一轮就合流了。</a:t>
            </a:r>
          </a:p>
        </p:txBody>
      </p:sp>
      <p:pic>
        <p:nvPicPr>
          <p:cNvPr id="10" name="Picture 9" descr="04-圆桌辩论-公开交锋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9632" y="2020824"/>
            <a:ext cx="5138928" cy="283890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99632" y="4951170"/>
            <a:ext cx="5138928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真实对话截图 · 加了「别和稀泥」也没用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02 · 结构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807212" cy="53848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822960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9264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可见性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9264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发言可以只让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某一位看到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15184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07791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54096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54096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悄悄话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54096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私下对一个人说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其他人不知道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0016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92623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38927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8927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点名对质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38927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被私下告知的人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当众点名对方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84848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77455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59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223759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新颖度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59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估算这一轮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说出了多少新东西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869680" y="2779776"/>
            <a:ext cx="310896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162287" y="2212848"/>
            <a:ext cx="1810512" cy="14813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08591" y="2340864"/>
            <a:ext cx="457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A3272C"/>
                </a:solidFill>
                <a:latin typeface="微软雅黑"/>
              </a:rPr>
              <a:t>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08591" y="2670048"/>
            <a:ext cx="153619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1" spc="80">
                <a:solidFill>
                  <a:srgbClr val="17120D"/>
                </a:solidFill>
                <a:latin typeface="宋体"/>
              </a:rPr>
              <a:t>主持人收尾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308591" y="3054096"/>
            <a:ext cx="155448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仍无新意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5A5147"/>
                </a:solidFill>
                <a:latin typeface="微软雅黑"/>
              </a:rPr>
              <a:t>由主持人拆穿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041648"/>
            <a:ext cx="1054303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前三个构成信息层，第四个判断讨论是否空转，第五个兜底。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49884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22960" y="4700016"/>
            <a:ext cx="10543032" cy="56692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5000"/>
              </a:lnSpc>
            </a:pPr>
            <a:r>
              <a:rPr sz="1400" b="0">
                <a:solidFill>
                  <a:srgbClr val="17120D"/>
                </a:solidFill>
                <a:latin typeface="微软雅黑"/>
              </a:rPr>
              <a:t>它们不是五个功能点，是一条链：私下说 → 当众摊牌 → 被点名者接火 → 若开始打太极就强制反对 → 仍无新意则由主持人收尾。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①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789106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每条发言带一个可见性标记（public 或某个人）。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生成每位发言者的回复时，只投喂他有权读到的那部分历史——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不是前端隐藏，是根本没有进入他的上下文。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结果：同一张桌子上，三个人拿着三份不同的信息。</a:t>
            </a:r>
          </a:p>
        </p:txBody>
      </p:sp>
      <p:pic>
        <p:nvPicPr>
          <p:cNvPr id="10" name="Picture 9" descr="05-悄悄话消息-仅一人可见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这条消息只有一个人看得到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②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507388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点「私下说」，选一个人。说出的话只有他看得到。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选定后按钮变红并显示对方名字，上方出现状态栏提醒你正在对谁低语。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悄悄话原文不写日志，也不参与联网检索——否则会被搜成场外情报。</a:t>
            </a:r>
          </a:p>
        </p:txBody>
      </p:sp>
      <p:pic>
        <p:nvPicPr>
          <p:cNvPr id="10" name="Picture 9" descr="07-悄悄话入口与人选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306186"/>
            <a:ext cx="5257800" cy="319660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594229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入口与人选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③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08805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被私下告知的人，往往会在下一轮把这句公开带出来，当众点名对方。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被点名的人不知道情报从哪来，只能正面接。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被点名者被要求不得用「我同意」开场——讨论从轮流发言变成有暗流的博弈。</a:t>
            </a:r>
          </a:p>
        </p:txBody>
      </p:sp>
      <p:pic>
        <p:nvPicPr>
          <p:cNvPr id="10" name="Picture 9" descr="06-点名对质-当众摊牌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鲁迅当众点名乔布斯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03 · 机制 ④⑤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325114" cy="44424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39112"/>
            <a:ext cx="4681728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每一轮用字符 2-gram 重叠率估算这一轮说出了多少新东西。</a:t>
            </a:r>
          </a:p>
          <a:p>
            <a:pPr algn="l">
              <a:lnSpc>
                <a:spcPct val="195000"/>
              </a:lnSpc>
            </a:pPr>
            <a:r>
              <a:rPr sz="1400" b="0">
                <a:solidFill>
                  <a:srgbClr val="5A5147"/>
                </a:solidFill>
                <a:latin typeface="微软雅黑"/>
              </a:rPr>
              <a:t>判定趋同，先强制每位发言者提一个反对意见；仍无新意，主持人亲自出面拆穿。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4325112"/>
            <a:ext cx="50292" cy="96012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4379976"/>
            <a:ext cx="44348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1250" b="0">
                <a:solidFill>
                  <a:srgbClr val="17120D"/>
                </a:solidFill>
                <a:latin typeface="微软雅黑"/>
              </a:rPr>
              <a:t>这个数字不展示给用户看——只在他们真的开始互相附和时，变成一条系统按语。</a:t>
            </a:r>
          </a:p>
        </p:txBody>
      </p:sp>
      <p:pic>
        <p:nvPicPr>
          <p:cNvPr id="10" name="Picture 9" descr="03-主持人收尾-拆穿伪共识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08192" y="2452200"/>
            <a:ext cx="5257800" cy="2904574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108192" y="5448215"/>
            <a:ext cx="52578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系统按语 + 主持人收尾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04 · 效果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3582847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9A9388"/>
                </a:solidFill>
                <a:latin typeface="微软雅黑"/>
              </a:rPr>
              <a:t>没有信息层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368296"/>
            <a:ext cx="4754880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鲁迅：学外语的意义，绝不仅仅在于翻译与写作……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乔布斯：我同意鲁迅的观点。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5A5147"/>
                </a:solidFill>
                <a:latin typeface="微软雅黑"/>
              </a:rPr>
              <a:t>→ 两个立场最互斥的人，第一轮就合流。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97880" y="2011679"/>
            <a:ext cx="10972" cy="3703320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020824"/>
            <a:ext cx="47548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1" spc="200">
                <a:solidFill>
                  <a:srgbClr val="A3272C"/>
                </a:solidFill>
                <a:latin typeface="微软雅黑"/>
              </a:rPr>
              <a:t>有信息层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2368296"/>
            <a:ext cx="4754880" cy="1905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63640" y="2532888"/>
            <a:ext cx="475488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鲁迅（收到悄悄话）：乔布斯那套「追随内心」，我怀疑是幸存者偏差——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乔布斯（被点名）：你说得对，我不是一个人做成的。</a:t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/>
            </a:r>
          </a:p>
          <a:p>
            <a:pPr algn="l">
              <a:lnSpc>
                <a:spcPct val="185000"/>
              </a:lnSpc>
            </a:pPr>
            <a:r>
              <a:rPr sz="1350" b="0">
                <a:solidFill>
                  <a:srgbClr val="17120D"/>
                </a:solidFill>
                <a:latin typeface="微软雅黑"/>
              </a:rPr>
              <a:t>→ 桌上有人揣着话，有人被点了名。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56875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>
                <a:solidFill>
                  <a:srgbClr val="9A9388"/>
                </a:solidFill>
                <a:latin typeface="微软雅黑"/>
              </a:rPr>
              <a:t>差别不在人格写得多像，在于这几个人掌握的信息不再相同。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05 · 架构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5917329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7510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客户端</a:t>
            </a:r>
          </a:p>
        </p:txBody>
      </p:sp>
      <p:sp>
        <p:nvSpPr>
          <p:cNvPr id="8" name="Rectangle 7"/>
          <p:cNvSpPr/>
          <p:nvPr/>
        </p:nvSpPr>
        <p:spPr>
          <a:xfrm>
            <a:off x="1901952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29968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浏览器 Web</a:t>
            </a:r>
          </a:p>
        </p:txBody>
      </p:sp>
      <p:sp>
        <p:nvSpPr>
          <p:cNvPr id="10" name="Rectangle 9"/>
          <p:cNvSpPr/>
          <p:nvPr/>
        </p:nvSpPr>
        <p:spPr>
          <a:xfrm>
            <a:off x="6697979" y="184708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25995" y="198424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移动端 Web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688336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前端层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901952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029968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app/page.tsx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97979" y="2560320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25995" y="2697479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Next.js App Router · SSE 流式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3401568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接口层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901952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029968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/api/chat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99304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27320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GET /api/characters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96656" y="3273552"/>
            <a:ext cx="3069336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24672" y="3410712"/>
            <a:ext cx="283159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POST /api/import-skill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2960" y="4114799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A3272C"/>
                </a:solidFill>
                <a:latin typeface="微软雅黑"/>
              </a:rPr>
              <a:t>核心层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901952" y="3986783"/>
            <a:ext cx="9464040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A3272C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048256" y="4123944"/>
            <a:ext cx="918971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1" spc="40">
                <a:solidFill>
                  <a:srgbClr val="A3272C"/>
                </a:solidFill>
                <a:latin typeface="微软雅黑"/>
              </a:rPr>
              <a:t>圆桌调度器  →  可见性过滤器  →  模型调用  →  输出装配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4828032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模型层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901952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029968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智谱 GLM-4-Flash（默认）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97979" y="4700016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825995" y="4837176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BYOK · 任意 OpenAI 兼容接口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" y="5541264"/>
            <a:ext cx="9601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1" spc="160">
                <a:solidFill>
                  <a:srgbClr val="9A9388"/>
                </a:solidFill>
                <a:latin typeface="微软雅黑"/>
              </a:rPr>
              <a:t>部署层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901952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029968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阿里云香港 · podman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697979" y="5413248"/>
            <a:ext cx="4668012" cy="566928"/>
          </a:xfrm>
          <a:prstGeom prst="rect">
            <a:avLst/>
          </a:prstGeom>
          <a:solidFill>
            <a:srgbClr val="F9F5EA"/>
          </a:solidFill>
          <a:ln w="12700">
            <a:solidFill>
              <a:srgbClr val="D8D0C0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825995" y="5550408"/>
            <a:ext cx="44302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0" spc="30">
                <a:solidFill>
                  <a:srgbClr val="17120D"/>
                </a:solidFill>
                <a:latin typeface="微软雅黑"/>
              </a:rPr>
              <a:t>nginx 反代 · HTTPS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6144768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9A9388"/>
                </a:solidFill>
                <a:latin typeface="微软雅黑"/>
              </a:rPr>
              <a:t>每条发言带「public / 仅某人可见」标记；组装 prompt 之前按可见性裁剪历史，消息不会进入不可见者的上下文。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822960" y="1700784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548640"/>
            <a:ext cx="77724" cy="64008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78992" y="530352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240">
                <a:solidFill>
                  <a:srgbClr val="A3272C"/>
                </a:solidFill>
                <a:latin typeface="微软雅黑"/>
              </a:rPr>
              <a:t>06 · 边界</a:t>
            </a:r>
          </a:p>
        </p:txBody>
      </p:sp>
      <p:pic>
        <p:nvPicPr>
          <p:cNvPr id="6" name="Picture 5" descr="d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8992" y="822960"/>
            <a:ext cx="4040293" cy="5384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1984248"/>
            <a:ext cx="969264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5A5147"/>
                </a:solidFill>
                <a:latin typeface="微软雅黑"/>
              </a:rPr>
              <a:t>这些不打算藏——评委自己发现，反而更难看。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724912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98448" y="2706624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新颖度是个近似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51960" y="2706624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用字符 2-gram 重叠率估算「说了多少新东西」。它不理解语义：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用新词讲旧观点会被判成新的，反过来也会误判。便宜、即时，但不准。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3785615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98448" y="3767328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主持人收尾看模型脸色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1960" y="3767328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第五个机制完全靠提示词约束模型。模型状态不好时，收尾会退化成</a:t>
            </a:r>
          </a:p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一次平庸的总结，而不是拆穿。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846320"/>
            <a:ext cx="384048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00" b="1">
                <a:solidFill>
                  <a:srgbClr val="A3272C"/>
                </a:solidFill>
                <a:latin typeface="微软雅黑"/>
              </a:rPr>
              <a:t>03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98448" y="4828032"/>
            <a:ext cx="27432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 spc="60">
                <a:solidFill>
                  <a:srgbClr val="17120D"/>
                </a:solidFill>
                <a:latin typeface="宋体"/>
              </a:rPr>
              <a:t>悄悄话一次只能对一个人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1960" y="4828032"/>
            <a:ext cx="6949440" cy="713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5000"/>
              </a:lnSpc>
            </a:pPr>
            <a:r>
              <a:rPr sz="1250" b="0">
                <a:solidFill>
                  <a:srgbClr val="5A5147"/>
                </a:solidFill>
                <a:latin typeface="微软雅黑"/>
              </a:rPr>
              <a:t>同时告知多人、形成临时小圈子，还没做。这是下一步最想要的能力。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5961888"/>
            <a:ext cx="10543032" cy="9525"/>
          </a:xfrm>
          <a:prstGeom prst="rect">
            <a:avLst/>
          </a:prstGeom>
          <a:solidFill>
            <a:srgbClr val="D8D0C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6071616"/>
            <a:ext cx="10543032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9A9388"/>
                </a:solidFill>
                <a:latin typeface="微软雅黑"/>
              </a:rPr>
              <a:t>《测试说明》里逐条记录了这些边界，连同触发条件。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097280"/>
            <a:ext cx="3657600" cy="2560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150" b="1" spc="300">
                <a:solidFill>
                  <a:srgbClr val="A3272C"/>
                </a:solidFill>
                <a:latin typeface="微软雅黑"/>
              </a:rPr>
              <a:t>在线体验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572768"/>
            <a:ext cx="69494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5800" b="1" spc="100">
                <a:solidFill>
                  <a:srgbClr val="17120D"/>
                </a:solidFill>
                <a:latin typeface="微软雅黑"/>
              </a:rPr>
              <a:t>outgate.chat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697480"/>
            <a:ext cx="2926080" cy="28575"/>
          </a:xfrm>
          <a:prstGeom prst="rect">
            <a:avLst/>
          </a:prstGeom>
          <a:solidFill>
            <a:srgbClr val="A32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2999232"/>
            <a:ext cx="6400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现在就可以打开。免费、无需注册，手机上也能用。</a:t>
            </a:r>
          </a:p>
          <a:p>
            <a:pPr algn="l">
              <a:lnSpc>
                <a:spcPct val="185000"/>
              </a:lnSpc>
            </a:pPr>
            <a:r>
              <a:rPr sz="1500" b="0">
                <a:solidFill>
                  <a:srgbClr val="5A5147"/>
                </a:solidFill>
                <a:latin typeface="微软雅黑"/>
              </a:rPr>
              <a:t>选择一个议题，请两三位入席，然后私下对其中一个人说点什么。</a:t>
            </a:r>
          </a:p>
        </p:txBody>
      </p:sp>
      <p:pic>
        <p:nvPicPr>
          <p:cNvPr id="8" name="Picture 7" descr="qr_cle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06840" y="1417320"/>
            <a:ext cx="2148840" cy="21488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9006840" y="3675887"/>
            <a:ext cx="214884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50000"/>
              </a:lnSpc>
            </a:pPr>
            <a:r>
              <a:rPr sz="1000" b="0">
                <a:solidFill>
                  <a:srgbClr val="9A9388"/>
                </a:solidFill>
                <a:latin typeface="微软雅黑"/>
              </a:rPr>
              <a:t>扫码直接进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892040"/>
            <a:ext cx="67665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冯思涵 · 张耀羽　哈尔滨金融学院</a:t>
            </a:r>
          </a:p>
          <a:p>
            <a:pPr algn="l">
              <a:lnSpc>
                <a:spcPct val="190000"/>
              </a:lnSpc>
            </a:pPr>
            <a:r>
              <a:rPr sz="1200" b="0">
                <a:solidFill>
                  <a:srgbClr val="5A5147"/>
                </a:solidFill>
                <a:latin typeface="微软雅黑"/>
              </a:rPr>
              <a:t>指导教师：胡芳驰 · 霍镜宇　　作品编号：375993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6419088"/>
            <a:ext cx="548640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950" b="0">
                <a:solidFill>
                  <a:srgbClr val="9A9388"/>
                </a:solidFill>
                <a:latin typeface="微软雅黑"/>
              </a:rPr>
              <a:t>门外谈 · 作品编号 375993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68712" y="6419088"/>
            <a:ext cx="109728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50000"/>
              </a:lnSpc>
            </a:pPr>
            <a:r>
              <a:rPr sz="1000" b="1">
                <a:solidFill>
                  <a:srgbClr val="9A9388"/>
                </a:solidFill>
                <a:latin typeface="微软雅黑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