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89320" y="658368"/>
            <a:ext cx="5852160" cy="548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595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79806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7355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spc="80">
                <a:solidFill>
                  <a:srgbClr val="A3272C"/>
                </a:solidFill>
                <a:latin typeface="微软雅黑"/>
              </a:rPr>
              <a:t>一个让多位思想者同桌交锋的思辨工具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94176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6849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95935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3425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2511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0001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9087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6577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5663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315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22392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1688571" cy="10500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76148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500">
                <a:solidFill>
                  <a:srgbClr val="A3272C"/>
                </a:solidFill>
                <a:latin typeface="微软雅黑"/>
              </a:rPr>
              <a:t>CONTENT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237744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06440" y="148132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1389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选题背景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59" y="151790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为什么做这个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99339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2267712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2176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作品设计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304288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它由什么构成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779776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3054096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96265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系统实现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59" y="3090672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怎么落地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3566160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3840480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37490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验证与效果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59" y="387705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改前改后差在哪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4352544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4626864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53542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创新与应用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59" y="4663440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新在哪、给谁用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138928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5413248"/>
            <a:ext cx="502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40">
                <a:solidFill>
                  <a:srgbClr val="A3272C"/>
                </a:solidFill>
                <a:latin typeface="微软雅黑"/>
              </a:rPr>
              <a:t>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532180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1" spc="120">
                <a:solidFill>
                  <a:srgbClr val="17120D"/>
                </a:solidFill>
                <a:latin typeface="宋体"/>
              </a:rPr>
              <a:t>在线体验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5449824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现在就能打开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5925312"/>
            <a:ext cx="555955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5956935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讨论往往没有产生分歧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一次小组讨论，通常是这样结束的：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说得最大声的那个人定了调，其余的人点头；</a:t>
            </a:r>
          </a:p>
          <a:p>
            <a:pPr algn="l">
              <a:lnSpc>
                <a:spcPct val="20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真正不同意的那个，从头到尾没开口。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55264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真正被讨论的，往往是最容易达成一致的那部分。</a:t>
            </a:r>
          </a:p>
          <a:p>
            <a:pPr algn="l">
              <a:lnSpc>
                <a:spcPct val="19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分歧最大的地方，从第一分钟起就被绕开了。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498848"/>
            <a:ext cx="50292" cy="42062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35424"/>
            <a:ext cx="4663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80">
                <a:solidFill>
                  <a:srgbClr val="A3272C"/>
                </a:solidFill>
                <a:latin typeface="微软雅黑"/>
              </a:rPr>
              <a:t>于是问题被绕过去了。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819655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抢话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谁先开口，谁就定了调子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2660903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2990087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1" y="2935223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重复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990087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三个人说的是同一件事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3776472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41056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1" y="4050792"/>
            <a:ext cx="1280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1" spc="200">
                <a:solidFill>
                  <a:srgbClr val="17120D"/>
                </a:solidFill>
                <a:latin typeface="宋体"/>
              </a:rPr>
              <a:t>沉默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105656"/>
            <a:ext cx="34198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最该说话的人不开口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讨论不是没进行，是没有产生分歧——而分歧恰恰是讨论唯一有价值的东西。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36569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门外谈是一张有信息差的桌子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7548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既然讨论的价值在于分歧，那就先把分歧摆上桌。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门外谈是一个网站，也是一张桌子：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你把一个问题摆在桌上，请几位思想者入席，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看他们当场各执一词。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他们看得见彼此说过的话，也可以被单独告知</a:t>
            </a:r>
          </a:p>
          <a:p>
            <a:pPr algn="l">
              <a:lnSpc>
                <a:spcPct val="190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一些别人不知道的事。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837943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002536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A3272C"/>
                </a:solidFill>
                <a:latin typeface="宋体"/>
              </a:rPr>
              <a:t>信息层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2441448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A3272C"/>
                </a:solidFill>
                <a:latin typeface="微软雅黑"/>
              </a:rPr>
              <a:t>谁被谁看见了　·　本届新增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2880359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7064" y="3044951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圆桌层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3483863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多位思想者轮流发言，后说的人看得到前文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3922775"/>
            <a:ext cx="4480560" cy="1042415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408736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160">
                <a:solidFill>
                  <a:srgbClr val="17120D"/>
                </a:solidFill>
                <a:latin typeface="宋体"/>
              </a:rPr>
              <a:t>人格层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4526279"/>
            <a:ext cx="40416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34 位蒸馏人格，各自带着自己的立场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511149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红色这一层，是本届新做的部分。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828032"/>
            <a:ext cx="50292" cy="10058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864608"/>
            <a:ext cx="4572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人格决定他们想什么，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圆桌决定他们怎么说话，</a:t>
            </a:r>
          </a:p>
          <a:p>
            <a:pPr algn="l">
              <a:lnSpc>
                <a:spcPct val="180000"/>
              </a:lnSpc>
            </a:pPr>
            <a:r>
              <a:rPr sz="1350" b="1">
                <a:solidFill>
                  <a:srgbClr val="17120D"/>
                </a:solidFill>
                <a:latin typeface="微软雅黑"/>
              </a:rPr>
              <a:t>信息层决定他们会不会吵起来。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4055427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人设有立场，才谈得上反驳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1965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在什么问题上必然持什么立场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句式、修辞、结构、意象，逐条写成约束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801368"/>
            <a:ext cx="5074920" cy="385876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020824"/>
            <a:ext cx="452628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42000"/>
              </a:lnSpc>
            </a:pPr>
            <a:r>
              <a:rPr sz="9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5769864"/>
            <a:ext cx="5074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4041965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34 位人物，来自开源社区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19656"/>
            <a:ext cx="3840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桌上的人物不是我们凭空造的。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本作品做的是把它们汇总、筛选、补齐、接入——统一中英文名与首字标记，标注每一份的上游仓库，并逐位调校到能在同一张桌上说话不跑题。</a:t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站内没有的人物，用户可以在「创意工坊」粘贴仓库地址实时导入。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64792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40">
                <a:solidFill>
                  <a:srgbClr val="9A9388"/>
                </a:solidFill>
                <a:latin typeface="微软雅黑"/>
              </a:rPr>
              <a:t>站内人物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057400"/>
            <a:ext cx="629107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3134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91348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9563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7777" y="218541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3134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91348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49563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7777" y="256946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3134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91348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9563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7777" y="2953512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134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1348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9563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7777" y="3337560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3134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91348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9563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7777" y="3721608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3134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91348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9563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7777" y="4105656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3134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91348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9563" y="4489704"/>
            <a:ext cx="12033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74920" y="49286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60340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有次序，才有一句一句的交锋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1837943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轮流发言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874519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每位依次开口，后说的人能看到前面说了什么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70632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734056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座次可调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7063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拖动卡片调整发言顺序，手机上长按拖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66744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3630168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人数定形式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66744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位以上＝圆桌辩论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62856"/>
            <a:ext cx="3291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4526280"/>
            <a:ext cx="1371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 spc="100">
                <a:solidFill>
                  <a:srgbClr val="17120D"/>
                </a:solidFill>
                <a:latin typeface="宋体"/>
              </a:rPr>
              <a:t>火候三档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562856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随口 / 较真 / 上头，控制回答长短，气氛上来自动升级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541264"/>
            <a:ext cx="50292" cy="45720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5577840"/>
            <a:ext cx="49377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次序解决的是「谁能说」，还没解决「为什么吵」。</a:t>
            </a:r>
          </a:p>
        </p:txBody>
      </p:sp>
      <p:pic>
        <p:nvPicPr>
          <p:cNvPr id="21" name="Picture 20" descr="v4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1031" y="1837943"/>
            <a:ext cx="5394960" cy="26009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71031" y="4530309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真实圆桌对话 · 三位已入席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39070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每个人的历史可以不一样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v4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70379"/>
            <a:ext cx="5257800" cy="261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0728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25608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一句话，只让他一个人听见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0775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656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点开「私下说」→ 选人 → 按钮变红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32339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被私下告知的人当众摊牌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v4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102124"/>
            <a:ext cx="5257800" cy="31475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410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53548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打太极时，系统强制换角度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032504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v4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260326"/>
            <a:ext cx="5257800" cy="2831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1828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46757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裁剪在服务端，前端拿不到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92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764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892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786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450591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5786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136391"/>
            <a:ext cx="3069336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264408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502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822191"/>
            <a:ext cx="9464040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3950207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6360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5079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6360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321807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193792"/>
            <a:ext cx="4668012" cy="548640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321807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05332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4314571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加了信息层，才吵得起来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67128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828800"/>
            <a:ext cx="10972" cy="356616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837943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67128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313432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389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120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7120D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项机制测试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T1–T9 逐项实测，全部通过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7304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1080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处泄漏已修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1080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悄悄话串进检索、写入日志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1647" y="5705856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3272C"/>
                </a:solidFill>
                <a:latin typeface="宋体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5423" y="5742432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00">
                <a:solidFill>
                  <a:srgbClr val="17120D"/>
                </a:solidFill>
                <a:latin typeface="微软雅黑"/>
              </a:rPr>
              <a:t>个关键回归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5423" y="5998464"/>
            <a:ext cx="29474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摊牌真的触发，不是摆样子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439965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三处改动，都在改谁知道什么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92807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1856231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机制创新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81051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把「信息差」做成可操作的三步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221991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可见性 → 悄悄话 → 点名对质。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不是让角色更凶，而是改变谁知道什么。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09544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172968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交互创新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12724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用户从提问者变成信息分配者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53872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一次私下告知，就能改变整场讨论的走向。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用户做的事情，从「问问题」变成「决定谁掌握什么」。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26280"/>
            <a:ext cx="50292" cy="8412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4489704"/>
            <a:ext cx="1005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60">
                <a:solidFill>
                  <a:srgbClr val="A3272C"/>
                </a:solidFill>
                <a:latin typeface="微软雅黑"/>
              </a:rPr>
              <a:t>工程创新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444398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信息裁剪在服务端完成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85546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按接收者裁剪上下文，不可见的内容根本不进 prompt；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5A5147"/>
                </a:solidFill>
                <a:latin typeface="微软雅黑"/>
              </a:rPr>
              <a:t>悄悄话不写日志、不参与联网检索。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88736"/>
            <a:ext cx="105430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9388"/>
                </a:solidFill>
                <a:latin typeface="微软雅黑"/>
              </a:rPr>
              <a:t>三点合起来回答一个问题：为什么这些角色能吵起来，而不是互相附和。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8132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47472"/>
            <a:ext cx="68580" cy="493776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184"/>
            <a:ext cx="3762568" cy="376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024128"/>
            <a:ext cx="101589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80">
                <a:solidFill>
                  <a:srgbClr val="A3272C"/>
                </a:solidFill>
                <a:latin typeface="微软雅黑"/>
              </a:rPr>
              <a:t>一张可以反复练习的桌子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课堂小组研讨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发言有次序，观点有记录。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老师能看见谁在什么时候改变了立场。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13504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1247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1247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英语辩论与口语训练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7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立场由人格给定，不靠临场想。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可以先私下「通气」，练接招。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4047" y="1874519"/>
            <a:ext cx="3361943" cy="184708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1791" y="2093976"/>
            <a:ext cx="3291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1791" y="2386584"/>
            <a:ext cx="290474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宋体"/>
              </a:rPr>
              <a:t>议题讨论与写作构思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1791" y="3063239"/>
            <a:ext cx="29047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先把分歧摆出来，再决定自己站哪边。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比一上来就找论据更接近真实思考。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70832"/>
            <a:ext cx="50292" cy="9326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407408"/>
            <a:ext cx="1026871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为什么这些场景成立：门外谈不是一个聊天玩具，是一张有规则的桌子。</a:t>
            </a:r>
          </a:p>
          <a:p>
            <a:pPr algn="l">
              <a:lnSpc>
                <a:spcPct val="180000"/>
              </a:lnSpc>
            </a:pPr>
            <a:r>
              <a:rPr sz="1300" b="0">
                <a:solidFill>
                  <a:srgbClr val="17120D"/>
                </a:solidFill>
                <a:latin typeface="微软雅黑"/>
              </a:rPr>
              <a:t>规则固定下来，才能反复练习；反复练习，才谈得上训练。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120">
                <a:solidFill>
                  <a:srgbClr val="5A5147"/>
                </a:solidFill>
                <a:latin typeface="微软雅黑"/>
              </a:rPr>
              <a:t>六、在线体验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48642" cy="8346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283464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outgate.chat　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0" y="1325880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0" y="334670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pic>
        <p:nvPicPr>
          <p:cNvPr id="11" name="Picture 10" descr="d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870448"/>
            <a:ext cx="1408419" cy="40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 · https://outgate.chat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