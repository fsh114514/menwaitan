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37960" y="621792"/>
            <a:ext cx="5212080" cy="5577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0" b="1">
                <a:solidFill>
                  <a:srgbClr val="E7DFCB"/>
                </a:solidFill>
                <a:latin typeface="宋体"/>
              </a:rPr>
              <a:t>辩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60">
                <a:solidFill>
                  <a:srgbClr val="A3272C"/>
                </a:solidFill>
                <a:latin typeface="微软雅黑"/>
              </a:rPr>
              <a:t>2026 年第十四届全国大学生数字媒体科技作品及创意竞赛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98448"/>
            <a:ext cx="3453295" cy="134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834640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50" b="0" spc="40">
                <a:solidFill>
                  <a:srgbClr val="5A5147"/>
                </a:solidFill>
                <a:latin typeface="微软雅黑"/>
              </a:rPr>
              <a:t>——基于信息不对称机制的多智能体圆桌辩论系统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364992"/>
            <a:ext cx="292608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749039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作品编号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3739896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375993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33087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参赛分类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4123944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自主选题类 · 移动与网络应用开发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1713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完成人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4507992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冯思涵 · 张耀羽（哈尔滨金融学院）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01183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指导教师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4892040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胡芳驰 · 霍镜宇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285231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在线地址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5276088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https://outgate.chat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01</a:t>
            </a:r>
          </a:p>
        </p:txBody>
      </p:sp>
    </p:spTree>
  </p:cSld>
  <p:clrMapOvr>
    <a:masterClrMapping/>
  </p:clrMapOvr>
  <p:transition spd="fast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02 · 人格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467013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02536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一般做法是给模型一句人设：「你是鲁迅，说话犀利」。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模型于是变得犀利——但那是你要的犀利，不是鲁迅的。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蒸馏人格是另一回事：把一个人拆成可执行的几节。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84448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25296" y="356616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核心身份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356616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他是谁。第一人称发言，明确不是替你写作的工具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3308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25296" y="4114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思想根基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67712" y="411480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在什么问题上必然持什么立场：批判精神、国民性、文学救国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68172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466344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语言特征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466344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句式、修辞、结构、意象，逐条写成约束，而不是一句形容词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23036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5212079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语录库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7712" y="5212079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收他的原话，用来校准语气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5797296"/>
            <a:ext cx="50292" cy="36576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2416" y="5833872"/>
            <a:ext cx="47548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>
                <a:solidFill>
                  <a:srgbClr val="17120D"/>
                </a:solidFill>
                <a:latin typeface="微软雅黑"/>
              </a:rPr>
              <a:t>所以他不顺着你说话——因为他本来就有立场。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1984248"/>
            <a:ext cx="5074920" cy="404164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59" y="2185415"/>
            <a:ext cx="4526280" cy="3611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---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name: luxun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---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# 鲁迅 · 人物志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你就是鲁迅本人，不是任何人的视角替身，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更不是写作工具。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## 思想根基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批判精神 · 国民性分析 · 文学救国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## 写作风格指南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语言特征 · 修辞技法 · 结构模式 · 意象体系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6117336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鲁迅那份 SKILL.md 的真实开头 · 站内 34 份、合计约 40 万字节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02</a:t>
            </a:r>
          </a:p>
        </p:txBody>
      </p:sp>
    </p:spTree>
  </p:cSld>
  <p:clrMapOvr>
    <a:masterClrMapping/>
  </p:clrMapOvr>
  <p:transition spd="fast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03 · 人物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6013528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02536"/>
            <a:ext cx="3977639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桌上的思想者不是我们凭空造的。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它们原本散落在开源社区的不同仓库里：格式统一为 SKILL.md，但体例、文案、可用程度各不相同，彼此不知道对方存在。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本作品做的是把它们汇总、筛选、补齐、接入——统一中英文名与首字标记，补齐介绍与代表言论，标注每一份的上游仓库，并逐位调校到能在同一张桌上说话不跑题。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人物志里点开任何一位，都能顺着他找到原始出处。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984248"/>
            <a:ext cx="6035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60">
                <a:solidFill>
                  <a:srgbClr val="9A9388"/>
                </a:solidFill>
                <a:latin typeface="微软雅黑"/>
              </a:rPr>
              <a:t>站内人格 34 位（3 位内置 + 31 位开源社区导入）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257800" y="2313432"/>
            <a:ext cx="6053328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57800" y="245973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7120D"/>
                </a:solidFill>
                <a:latin typeface="微软雅黑"/>
              </a:rPr>
              <a:t>鲁迅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8465" y="245973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7120D"/>
                </a:solidFill>
                <a:latin typeface="微软雅黑"/>
              </a:rPr>
              <a:t>哈耶克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79131" y="245973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7120D"/>
                </a:solidFill>
                <a:latin typeface="微软雅黑"/>
              </a:rPr>
              <a:t>凯恩斯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89796" y="245973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柏拉图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00462" y="245973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孔子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284378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马克思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8465" y="284378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乔布斯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79131" y="284378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马斯克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89796" y="284378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尼采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00462" y="284378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福柯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227832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苏格拉底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8465" y="3227832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维特根斯坦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79131" y="3227832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爱因斯坦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89796" y="3227832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图灵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00462" y="3227832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黄仁勋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3611880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巴菲特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8465" y="3611880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达利欧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79131" y="3611880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波伏娃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9796" y="3611880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亚里士多德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00462" y="3611880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亚当·斯密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7800" y="3995928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康德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8465" y="3995928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达尔文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79131" y="3995928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罗素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89796" y="3995928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奥威尔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00462" y="3995928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加缪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57800" y="437997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马丁·路德·金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8465" y="437997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福尔摩斯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79131" y="437997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梵高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89796" y="437997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薛定谔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00462" y="437997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丘吉尔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57800" y="476402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爱丽丝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68465" y="476402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牛顿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79131" y="476402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叔本华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89796" y="476402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莎士比亚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57800" y="523951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深色为内置，浅色为开源社区导入。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03</a:t>
            </a:r>
          </a:p>
        </p:txBody>
      </p:sp>
    </p:spTree>
  </p:cSld>
  <p:clrMapOvr>
    <a:masterClrMapping/>
  </p:clrMapOvr>
  <p:transition spd="fast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04 · 界面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6434685" cy="538480"/>
          </a:xfrm>
          <a:prstGeom prst="rect">
            <a:avLst/>
          </a:prstGeom>
        </p:spPr>
      </p:pic>
      <p:pic>
        <p:nvPicPr>
          <p:cNvPr id="7" name="Picture 6" descr="01-首页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984248"/>
            <a:ext cx="5102352" cy="2818700"/>
          </a:xfrm>
          <a:prstGeom prst="rect">
            <a:avLst/>
          </a:prstGeom>
        </p:spPr>
      </p:pic>
      <p:pic>
        <p:nvPicPr>
          <p:cNvPr id="8" name="Picture 7" descr="02-人物志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984248"/>
            <a:ext cx="5102352" cy="28187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4894388"/>
            <a:ext cx="51023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首页 · 大字刊名 + 描边「辩」字水印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4894388"/>
            <a:ext cx="51023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人物志 · 34 位，点卡片入席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5577840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687568"/>
            <a:ext cx="91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>
                <a:solidFill>
                  <a:srgbClr val="17120D"/>
                </a:solidFill>
                <a:latin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66928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20">
                <a:solidFill>
                  <a:srgbClr val="A3272C"/>
                </a:solidFill>
                <a:latin typeface="微软雅黑"/>
              </a:rPr>
              <a:t>纸墨红三色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9253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147"/>
                </a:solidFill>
                <a:latin typeface="微软雅黑"/>
              </a:rPr>
              <a:t>纸 #F4EFE3 · 墨 #17120D · 红 #A3272C，以这三色为主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5687568"/>
            <a:ext cx="91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>
                <a:solidFill>
                  <a:srgbClr val="17120D"/>
                </a:solidFill>
                <a:latin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566928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20">
                <a:solidFill>
                  <a:srgbClr val="A3272C"/>
                </a:solidFill>
                <a:latin typeface="微软雅黑"/>
              </a:rPr>
              <a:t>版头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3024" y="59253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147"/>
                </a:solidFill>
                <a:latin typeface="微软雅黑"/>
              </a:rPr>
              <a:t>得意黑大字刊名（自托管）＋竖排小字，模拟报纸版头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43087" y="5687568"/>
            <a:ext cx="91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>
                <a:solidFill>
                  <a:srgbClr val="17120D"/>
                </a:solidFill>
                <a:latin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3087" y="566928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20">
                <a:solidFill>
                  <a:srgbClr val="A3272C"/>
                </a:solidFill>
                <a:latin typeface="微软雅黑"/>
              </a:rPr>
              <a:t>双语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43087" y="59253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147"/>
                </a:solidFill>
                <a:latin typeface="微软雅黑"/>
              </a:rPr>
              <a:t>全站中英一键切换，人物名与文案同步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04</a:t>
            </a:r>
          </a:p>
        </p:txBody>
      </p:sp>
    </p:spTree>
  </p:cSld>
  <p:clrMapOvr>
    <a:masterClrMapping/>
  </p:clrMapOvr>
  <p:transition spd="fast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05 · 起点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019973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02536"/>
            <a:ext cx="50749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最初只是想找个能真正交流的 AI。问「我该不该放弃这个专业」，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回答是「这取决于你的兴趣和目标」——聊完，疑问还在原处。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后来在 GitHub 上看到，有人把名人整理成可对话的人格包。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接进去才发现：这些角色并不好说话。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但一次只能跟一个人，本质上还是我问、他答。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我更好奇的是他们彼此之间的分歧——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把鲁迅和乔布斯放在一起，立场几乎不可能调和。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于是做了圆桌：几位依次发言，后说的人能看到前面说了什么。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46520" y="2039112"/>
            <a:ext cx="50292" cy="14630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2112264"/>
            <a:ext cx="4480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0">
                <a:solidFill>
                  <a:srgbClr val="17120D"/>
                </a:solidFill>
                <a:latin typeface="宋体"/>
              </a:rPr>
              <a:t>「凭什么认为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7120D"/>
                </a:solidFill>
                <a:latin typeface="宋体"/>
              </a:rPr>
              <a:t>退学是一条路。」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3044952"/>
            <a:ext cx="4480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150" b="0">
                <a:solidFill>
                  <a:srgbClr val="9A9388"/>
                </a:solidFill>
                <a:latin typeface="微软雅黑"/>
              </a:rPr>
              <a:t>问鲁迅该不该退学，他没有分析利弊，而是反问。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9A9388"/>
                </a:solidFill>
                <a:latin typeface="微软雅黑"/>
              </a:rPr>
              <a:t>这种被追问的感觉，比被安慰更有用。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4526280"/>
            <a:ext cx="448056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645152"/>
            <a:ext cx="4480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50" b="1">
                <a:solidFill>
                  <a:srgbClr val="17120D"/>
                </a:solidFill>
                <a:latin typeface="微软雅黑"/>
              </a:rPr>
              <a:t>「选个位子，抛一个问题，看他们吵起来。」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5230368"/>
            <a:ext cx="4480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—— 第一版的项目介绍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6520" y="5541264"/>
            <a:ext cx="448056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5632704"/>
            <a:ext cx="4480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050" b="0">
                <a:solidFill>
                  <a:srgbClr val="9A9388"/>
                </a:solidFill>
                <a:latin typeface="微软雅黑"/>
              </a:rPr>
              <a:t>2026-08-24 首次提交　·　v1 已做出：</a:t>
            </a:r>
          </a:p>
          <a:p>
            <a:pPr algn="l">
              <a:lnSpc>
                <a:spcPct val="170000"/>
              </a:lnSpc>
            </a:pPr>
            <a:r>
              <a:rPr sz="1050" b="0">
                <a:solidFill>
                  <a:srgbClr val="9A9388"/>
                </a:solidFill>
                <a:latin typeface="微软雅黑"/>
              </a:rPr>
              <a:t>圆桌　·　火候三档（随口 / 较真 / 上头）　·　人物志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05</a:t>
            </a:r>
          </a:p>
        </p:txBody>
      </p:sp>
    </p:spTree>
  </p:cSld>
  <p:clrMapOvr>
    <a:masterClrMapping/>
  </p:clrMapOvr>
  <p:transition spd="fast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06 · 问题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931522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57400"/>
            <a:ext cx="513892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圆桌跑起来之后，有一件事很扫兴：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前面的人说了什么，后面的人就顺着说。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几轮之后气氛融洽——和最初那种「你的想法很有道理」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并没有本质区别。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858768"/>
            <a:ext cx="50292" cy="47548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3913632"/>
            <a:ext cx="49377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17120D"/>
                </a:solidFill>
                <a:latin typeface="微软雅黑"/>
              </a:rPr>
              <a:t>原因：他们掌握的信息完全相同。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773168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484632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700" b="0">
                <a:solidFill>
                  <a:srgbClr val="17120D"/>
                </a:solidFill>
                <a:latin typeface="微软雅黑"/>
              </a:rPr>
              <a:t>「我同意鲁迅的观点。」</a:t>
            </a:r>
          </a:p>
          <a:p>
            <a:pPr algn="l">
              <a:lnSpc>
                <a:spcPct val="185000"/>
              </a:lnSpc>
            </a:pPr>
            <a:r>
              <a:rPr sz="1700" b="0">
                <a:solidFill>
                  <a:srgbClr val="17120D"/>
                </a:solidFill>
                <a:latin typeface="微软雅黑"/>
              </a:rPr>
              <a:t>——立场最互斥的两人，第一轮就合流。</a:t>
            </a:r>
          </a:p>
        </p:txBody>
      </p:sp>
      <p:pic>
        <p:nvPicPr>
          <p:cNvPr id="12" name="Picture 11" descr="shot_04-圆桌辩论-公开交锋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020824"/>
            <a:ext cx="5138928" cy="247749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99632" y="4589756"/>
            <a:ext cx="5138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v1 实测截图 · 加了「别和稀泥」也没用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06</a:t>
            </a:r>
          </a:p>
        </p:txBody>
      </p:sp>
    </p:spTree>
  </p:cSld>
  <p:clrMapOvr>
    <a:masterClrMapping/>
  </p:clrMapOvr>
  <p:transition spd="fast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6035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300">
                <a:solidFill>
                  <a:srgbClr val="A3272C"/>
                </a:solidFill>
                <a:latin typeface="微软雅黑"/>
              </a:rPr>
              <a:t>一句话 · 这就是我们的答案</a:t>
            </a:r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5243389" cy="166928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" y="4041648"/>
            <a:ext cx="310896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370832"/>
            <a:ext cx="8412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人格写得多像是上一层；这里动的是下面一层——</a:t>
            </a:r>
          </a:p>
          <a:p>
            <a:pPr algn="l">
              <a:lnSpc>
                <a:spcPct val="17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每个人掌握了什么信息，以及谁被谁看见了。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07</a:t>
            </a:r>
          </a:p>
        </p:txBody>
      </p:sp>
    </p:spTree>
  </p:cSld>
  <p:clrMapOvr>
    <a:masterClrMapping/>
  </p:clrMapOvr>
  <p:transition spd="fast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07 · 结构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807212" cy="5384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可见性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发言可以只让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某一位看到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5184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07791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54096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4096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悄悄话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54096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私下对一个人说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其他人不知道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0016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92623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38927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7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点名对质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38927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被私下告知的人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当众点名对方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4848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77455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59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59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新颖度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59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估算这一轮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说出了多少新东西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62287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08591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1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主持人收尾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08591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仍无新意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由主持人拆穿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041648"/>
            <a:ext cx="105430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50" b="0">
                <a:solidFill>
                  <a:srgbClr val="9A9388"/>
                </a:solidFill>
                <a:latin typeface="微软雅黑"/>
              </a:rPr>
              <a:t>前三个构成信息层，第四个判断讨论是否空转，第五个兜底。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49884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700016"/>
            <a:ext cx="105430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400" b="0">
                <a:solidFill>
                  <a:srgbClr val="17120D"/>
                </a:solidFill>
                <a:latin typeface="微软雅黑"/>
              </a:rPr>
              <a:t>它们不是五个功能点，是一条链：私下说 → 当众摊牌 → 被点名者接火 → 若开始打太极就强制反对 → 仍无新意则由主持人收尾。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08</a:t>
            </a:r>
          </a:p>
        </p:txBody>
      </p:sp>
    </p:spTree>
  </p:cSld>
  <p:clrMapOvr>
    <a:masterClrMapping/>
  </p:clrMapOvr>
  <p:transition spd="fast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08 · 机制 ①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789106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每条发言带一个可见性标记（public 或某个人）。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生成每位发言者的回复时，只投喂他有权读到的那部分历史——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不是前端隐藏，是根本没有进入他的上下文。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结果：同一张桌子上，三个人拿着三份不同的信息。</a:t>
            </a:r>
          </a:p>
        </p:txBody>
      </p:sp>
      <p:pic>
        <p:nvPicPr>
          <p:cNvPr id="10" name="Picture 9" descr="shot_05-悄悄话消息-仅一人可见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598979"/>
            <a:ext cx="5257800" cy="26110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301436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这条消息只有一个人看得到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09</a:t>
            </a:r>
          </a:p>
        </p:txBody>
      </p:sp>
    </p:spTree>
  </p:cSld>
  <p:clrMapOvr>
    <a:masterClrMapping/>
  </p:clrMapOvr>
  <p:transition spd="fast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07 · 机制 ②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507388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点「私下说」，选一个人。说出的话只有他看得到。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选定后按钮变红并显示对方名字，上方出现状态栏提醒你正在对谁低语。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悄悄话原文不写日志，也不参与联网检索——否则会被搜成场外情报。</a:t>
            </a:r>
          </a:p>
        </p:txBody>
      </p:sp>
      <p:pic>
        <p:nvPicPr>
          <p:cNvPr id="10" name="Picture 9" descr="07-悄悄话入口与人选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306186"/>
            <a:ext cx="5257800" cy="31966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594229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入口与人选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10</a:t>
            </a:r>
          </a:p>
        </p:txBody>
      </p:sp>
    </p:spTree>
  </p:cSld>
  <p:clrMapOvr>
    <a:masterClrMapping/>
  </p:clrMapOvr>
  <p:transition spd="fast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07 · 机制 ③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5908805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被私下告知的人，往往会在下一轮把这句公开带出来，当众点名对方。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被点名的人不知道情报从哪来，只能正面接。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被点名者被要求不得用「我同意」开场——讨论从轮流发言变成有暗流的博弈。</a:t>
            </a:r>
          </a:p>
        </p:txBody>
      </p:sp>
      <p:pic>
        <p:nvPicPr>
          <p:cNvPr id="10" name="Picture 9" descr="shot_06-点名对质-当众摊牌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330724"/>
            <a:ext cx="5257800" cy="314752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569691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鲁迅当众点名乔布斯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11</a:t>
            </a:r>
          </a:p>
        </p:txBody>
      </p:sp>
    </p:spTree>
  </p:cSld>
  <p:clrMapOvr>
    <a:masterClrMapping/>
  </p:clrMapOvr>
  <p:transition spd="fast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07 · 机制 ④⑤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3325114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每一轮用字符 2-gram 重叠率估算这一轮说出了多少新东西。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判定趋同，先强制每位发言者提一个反对意见；仍无新意，主持人亲自出面拆穿。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这个数字不展示给用户看——只在他们真的开始互相附和时，变成一条系统按语。</a:t>
            </a:r>
          </a:p>
        </p:txBody>
      </p:sp>
      <p:pic>
        <p:nvPicPr>
          <p:cNvPr id="10" name="Picture 9" descr="shot_03-主持人收尾-拆穿伪共识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488926"/>
            <a:ext cx="5257800" cy="283112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411489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系统按语 + 主持人收尾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12</a:t>
            </a:r>
          </a:p>
        </p:txBody>
      </p:sp>
    </p:spTree>
  </p:cSld>
  <p:clrMapOvr>
    <a:masterClrMapping/>
  </p:clrMapOvr>
  <p:transition spd="fast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09 · 效果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3582847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208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200">
                <a:solidFill>
                  <a:srgbClr val="9A9388"/>
                </a:solidFill>
                <a:latin typeface="微软雅黑"/>
              </a:rPr>
              <a:t>v1 · 没有信息层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368296"/>
            <a:ext cx="475488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32888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鲁迅：学外语的意义，绝不仅仅在于翻译与写作……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乔布斯：我同意鲁迅的观点。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→ 两个立场最互斥的人，第一轮就合流。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011679"/>
            <a:ext cx="10972" cy="3703320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0208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200">
                <a:solidFill>
                  <a:srgbClr val="A3272C"/>
                </a:solidFill>
                <a:latin typeface="微软雅黑"/>
              </a:rPr>
              <a:t>v2 · 有信息层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368296"/>
            <a:ext cx="4754880" cy="1905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2532888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>鲁迅（收到悄悄话）：乔布斯那套「追随内心」，我怀疑是幸存者偏差——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>乔布斯（被点名）：你说得对，我不是一个人做成的。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>→ 桌上有人揣着话，有人被点了名。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687568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9A9388"/>
                </a:solidFill>
                <a:latin typeface="微软雅黑"/>
              </a:rPr>
              <a:t>差别不在人格写得多像，在于这几个人掌握的信息不再相同。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13</a:t>
            </a:r>
          </a:p>
        </p:txBody>
      </p:sp>
    </p:spTree>
  </p:cSld>
  <p:clrMapOvr>
    <a:masterClrMapping/>
  </p:clrMapOvr>
  <p:transition spd="fast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10 · 架构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5917329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975104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客户端</a:t>
            </a:r>
          </a:p>
        </p:txBody>
      </p:sp>
      <p:sp>
        <p:nvSpPr>
          <p:cNvPr id="8" name="Rectangle 7"/>
          <p:cNvSpPr/>
          <p:nvPr/>
        </p:nvSpPr>
        <p:spPr>
          <a:xfrm>
            <a:off x="1901952" y="184708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29968" y="198424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浏览器 Web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97979" y="184708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25995" y="198424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移动端 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88336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前端层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01952" y="2560320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29968" y="2697479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app/page.tsx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97979" y="2560320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25995" y="2697479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Next.js App Router · SSE 流式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401568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接口层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01952" y="3273552"/>
            <a:ext cx="3069336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29968" y="3410712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POST /api/chat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99304" y="3273552"/>
            <a:ext cx="3069336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27320" y="3410712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GET /api/characters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96656" y="3273552"/>
            <a:ext cx="3069336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24672" y="3410712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POST /api/import-skill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114799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A3272C"/>
                </a:solidFill>
                <a:latin typeface="微软雅黑"/>
              </a:rPr>
              <a:t>核心层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01952" y="3986783"/>
            <a:ext cx="9464040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A327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48256" y="4123944"/>
            <a:ext cx="9189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40">
                <a:solidFill>
                  <a:srgbClr val="A3272C"/>
                </a:solidFill>
                <a:latin typeface="微软雅黑"/>
              </a:rPr>
              <a:t>圆桌调度器  →  可见性过滤器  →  模型调用  →  输出装配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828032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模型层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901952" y="4700016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29968" y="4837176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智谱 GLM-4-Flash（默认）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97979" y="4700016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25995" y="4837176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BYOK · 任意 OpenAI 兼容接口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541264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部署层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901952" y="541324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29968" y="555040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阿里云香港 · podman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97979" y="541324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25995" y="555040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nginx 反代 · 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144768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每条发言带「public / 仅某人可见」标记；组装 prompt 之前按可见性裁剪历史，消息不会进入不可见者的上下文。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14</a:t>
            </a:r>
          </a:p>
        </p:txBody>
      </p:sp>
    </p:spTree>
  </p:cSld>
  <p:clrMapOvr>
    <a:masterClrMapping/>
  </p:clrMapOvr>
  <p:transition spd="fast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11 · 边界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040293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984248"/>
            <a:ext cx="9692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这些不打算藏——评委自己发现，反而更难看。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24912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706624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60">
                <a:solidFill>
                  <a:srgbClr val="17120D"/>
                </a:solidFill>
                <a:latin typeface="宋体"/>
              </a:rPr>
              <a:t>新颖度是个近似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2706624"/>
            <a:ext cx="6949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用字符 2-gram 重叠率估算「说了多少新东西」。它不理解语义：</a:t>
            </a:r>
          </a:p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用新词讲旧观点会被判成新的，反过来也会误判。便宜、即时，但不准。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85615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767328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60">
                <a:solidFill>
                  <a:srgbClr val="17120D"/>
                </a:solidFill>
                <a:latin typeface="宋体"/>
              </a:rPr>
              <a:t>主持人收尾看模型脸色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3767328"/>
            <a:ext cx="6949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第五个机制完全靠提示词约束模型。模型状态不好时，收尾会退化成</a:t>
            </a:r>
          </a:p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一次平庸的总结，而不是拆穿。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846320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828032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60">
                <a:solidFill>
                  <a:srgbClr val="17120D"/>
                </a:solidFill>
                <a:latin typeface="宋体"/>
              </a:rPr>
              <a:t>悄悄话一次只能对一个人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4828032"/>
            <a:ext cx="6949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同时告知多人、形成临时小圈子，还没做。这是下一步最想要的能力。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596188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071616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9A9388"/>
                </a:solidFill>
                <a:latin typeface="微软雅黑"/>
              </a:rPr>
              <a:t>《测试说明》里逐条记录了这些边界，连同触发条件。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15</a:t>
            </a:r>
          </a:p>
        </p:txBody>
      </p:sp>
    </p:spTree>
  </p:cSld>
  <p:clrMapOvr>
    <a:masterClrMapping/>
  </p:clrMapOvr>
  <p:transition spd="fast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300">
                <a:solidFill>
                  <a:srgbClr val="A3272C"/>
                </a:solidFill>
                <a:latin typeface="微软雅黑"/>
              </a:rPr>
              <a:t>在线体验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72768"/>
            <a:ext cx="6949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5800" b="1" spc="100">
                <a:solidFill>
                  <a:srgbClr val="17120D"/>
                </a:solidFill>
                <a:latin typeface="微软雅黑"/>
              </a:rPr>
              <a:t>outgate.chat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97480"/>
            <a:ext cx="292608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999232"/>
            <a:ext cx="6400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现在就可以打开。免费、无需注册，手机上也能用。</a:t>
            </a:r>
          </a:p>
          <a:p>
            <a:pPr algn="l">
              <a:lnSpc>
                <a:spcPct val="18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选择一个议题，请两三位入席，然后私下对其中一个人说点什么。</a:t>
            </a:r>
          </a:p>
        </p:txBody>
      </p:sp>
      <p:pic>
        <p:nvPicPr>
          <p:cNvPr id="8" name="Picture 7" descr="q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0" y="1417320"/>
            <a:ext cx="2148840" cy="2148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006840" y="3675887"/>
            <a:ext cx="2148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扫码直接进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92040"/>
            <a:ext cx="6766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冯思涵 · 张耀羽　哈尔滨金融学院</a:t>
            </a: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指导教师：胡芳驰 · 霍镜宇　　作品编号：375993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16</a:t>
            </a:r>
          </a:p>
        </p:txBody>
      </p:sp>
    </p:spTree>
  </p:cSld>
  <p:clrMapOvr>
    <a:masterClrMapping/>
  </p:clrMapOvr>
  <p:transition spd="fast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