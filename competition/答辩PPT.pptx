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9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1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image" Target="../media/image1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image" Target="../media/image15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image" Target="../media/image17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Relationship Id="rId3" Type="http://schemas.openxmlformats.org/officeDocument/2006/relationships/image" Target="../media/image23.png"/><Relationship Id="rId4" Type="http://schemas.openxmlformats.org/officeDocument/2006/relationships/image" Target="../media/image2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89320" y="658368"/>
            <a:ext cx="5852160" cy="5486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5000" b="1">
                <a:solidFill>
                  <a:srgbClr val="E7DFCB"/>
                </a:solidFill>
                <a:latin typeface="宋体"/>
              </a:rPr>
              <a:t>辩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786384"/>
            <a:ext cx="85953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50" b="1" spc="160">
                <a:solidFill>
                  <a:srgbClr val="A3272C"/>
                </a:solidFill>
                <a:latin typeface="微软雅黑"/>
              </a:rPr>
              <a:t>2026 年第十四届全国大学生数字媒体科技作品及创意竞赛</a:t>
            </a:r>
          </a:p>
        </p:txBody>
      </p:sp>
      <p:pic>
        <p:nvPicPr>
          <p:cNvPr id="6" name="Picture 5" descr="d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280160"/>
            <a:ext cx="3453295" cy="13462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22960" y="2798064"/>
            <a:ext cx="6309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750" b="0" spc="40">
                <a:solidFill>
                  <a:srgbClr val="5A5147"/>
                </a:solidFill>
                <a:latin typeface="微软雅黑"/>
              </a:rPr>
              <a:t>——基于信息不对称机制的多智能体圆桌辩论系统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273552"/>
            <a:ext cx="6309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300" b="0" spc="80">
                <a:solidFill>
                  <a:srgbClr val="A3272C"/>
                </a:solidFill>
                <a:latin typeface="微软雅黑"/>
              </a:rPr>
              <a:t>一个让多位思想者同桌交锋的思辨工具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3694176"/>
            <a:ext cx="2926080" cy="28575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3968496"/>
            <a:ext cx="10515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050" b="0" spc="120">
                <a:solidFill>
                  <a:srgbClr val="9A9388"/>
                </a:solidFill>
                <a:latin typeface="微软雅黑"/>
              </a:rPr>
              <a:t>作品编号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65960" y="3959352"/>
            <a:ext cx="58521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50" b="0" spc="30">
                <a:solidFill>
                  <a:srgbClr val="17120D"/>
                </a:solidFill>
                <a:latin typeface="微软雅黑"/>
              </a:rPr>
              <a:t>375993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4334256"/>
            <a:ext cx="10515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050" b="0" spc="120">
                <a:solidFill>
                  <a:srgbClr val="9A9388"/>
                </a:solidFill>
                <a:latin typeface="微软雅黑"/>
              </a:rPr>
              <a:t>参赛分类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965960" y="4325112"/>
            <a:ext cx="58521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50" b="0" spc="30">
                <a:solidFill>
                  <a:srgbClr val="17120D"/>
                </a:solidFill>
                <a:latin typeface="微软雅黑"/>
              </a:rPr>
              <a:t>自主选题类 · 移动与网络应用开发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4700016"/>
            <a:ext cx="10515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050" b="0" spc="120">
                <a:solidFill>
                  <a:srgbClr val="9A9388"/>
                </a:solidFill>
                <a:latin typeface="微软雅黑"/>
              </a:rPr>
              <a:t>完成人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965960" y="4690872"/>
            <a:ext cx="58521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50" b="0" spc="30">
                <a:solidFill>
                  <a:srgbClr val="17120D"/>
                </a:solidFill>
                <a:latin typeface="微软雅黑"/>
              </a:rPr>
              <a:t>冯思涵 · 张耀羽（哈尔滨金融学院）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5065776"/>
            <a:ext cx="10515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050" b="0" spc="120">
                <a:solidFill>
                  <a:srgbClr val="9A9388"/>
                </a:solidFill>
                <a:latin typeface="微软雅黑"/>
              </a:rPr>
              <a:t>指导教师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965960" y="5056632"/>
            <a:ext cx="58521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50" b="0" spc="30">
                <a:solidFill>
                  <a:srgbClr val="17120D"/>
                </a:solidFill>
                <a:latin typeface="微软雅黑"/>
              </a:rPr>
              <a:t>胡芳驰 · 霍镜宇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5431536"/>
            <a:ext cx="10515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050" b="0" spc="120">
                <a:solidFill>
                  <a:srgbClr val="9A9388"/>
                </a:solidFill>
                <a:latin typeface="微软雅黑"/>
              </a:rPr>
              <a:t>在线地址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965960" y="5422392"/>
            <a:ext cx="58521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50" b="0" spc="30">
                <a:solidFill>
                  <a:srgbClr val="17120D"/>
                </a:solidFill>
                <a:latin typeface="微软雅黑"/>
              </a:rPr>
              <a:t>https://outgate.chat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4" name="Picture 3" descr="d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417320"/>
            <a:ext cx="1688571" cy="105003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22960" y="2761488"/>
            <a:ext cx="3657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300" b="1" spc="500">
                <a:solidFill>
                  <a:srgbClr val="A3272C"/>
                </a:solidFill>
                <a:latin typeface="微软雅黑"/>
              </a:rPr>
              <a:t>CONTENT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3200400"/>
            <a:ext cx="2377440" cy="9525"/>
          </a:xfrm>
          <a:prstGeom prst="rect">
            <a:avLst/>
          </a:prstGeom>
          <a:solidFill>
            <a:srgbClr val="D8D0C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806440" y="1481328"/>
            <a:ext cx="5029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50" b="1" spc="140">
                <a:solidFill>
                  <a:srgbClr val="A3272C"/>
                </a:solidFill>
                <a:latin typeface="微软雅黑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73368" y="1389888"/>
            <a:ext cx="2286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900" b="1" spc="120">
                <a:solidFill>
                  <a:srgbClr val="17120D"/>
                </a:solidFill>
                <a:latin typeface="宋体"/>
              </a:rPr>
              <a:t>选题背景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23959" y="1517904"/>
            <a:ext cx="254203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0">
                <a:solidFill>
                  <a:srgbClr val="9A9388"/>
                </a:solidFill>
                <a:latin typeface="微软雅黑"/>
              </a:rPr>
              <a:t>为什么做这个</a:t>
            </a:r>
          </a:p>
        </p:txBody>
      </p:sp>
      <p:sp>
        <p:nvSpPr>
          <p:cNvPr id="10" name="Rectangle 9"/>
          <p:cNvSpPr/>
          <p:nvPr/>
        </p:nvSpPr>
        <p:spPr>
          <a:xfrm>
            <a:off x="5806440" y="1993392"/>
            <a:ext cx="5559552" cy="9525"/>
          </a:xfrm>
          <a:prstGeom prst="rect">
            <a:avLst/>
          </a:prstGeom>
          <a:solidFill>
            <a:srgbClr val="D8D0C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806440" y="2267712"/>
            <a:ext cx="5029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50" b="1" spc="140">
                <a:solidFill>
                  <a:srgbClr val="A3272C"/>
                </a:solidFill>
                <a:latin typeface="微软雅黑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73368" y="2176272"/>
            <a:ext cx="2286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900" b="1" spc="120">
                <a:solidFill>
                  <a:srgbClr val="17120D"/>
                </a:solidFill>
                <a:latin typeface="宋体"/>
              </a:rPr>
              <a:t>作品设计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823959" y="2304288"/>
            <a:ext cx="254203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0">
                <a:solidFill>
                  <a:srgbClr val="9A9388"/>
                </a:solidFill>
                <a:latin typeface="微软雅黑"/>
              </a:rPr>
              <a:t>它由什么构成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806440" y="2779776"/>
            <a:ext cx="5559552" cy="9525"/>
          </a:xfrm>
          <a:prstGeom prst="rect">
            <a:avLst/>
          </a:prstGeom>
          <a:solidFill>
            <a:srgbClr val="D8D0C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806440" y="3054096"/>
            <a:ext cx="5029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50" b="1" spc="140">
                <a:solidFill>
                  <a:srgbClr val="A3272C"/>
                </a:solidFill>
                <a:latin typeface="微软雅黑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73368" y="2962656"/>
            <a:ext cx="2286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900" b="1" spc="120">
                <a:solidFill>
                  <a:srgbClr val="17120D"/>
                </a:solidFill>
                <a:latin typeface="宋体"/>
              </a:rPr>
              <a:t>系统实现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823959" y="3090672"/>
            <a:ext cx="254203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0">
                <a:solidFill>
                  <a:srgbClr val="9A9388"/>
                </a:solidFill>
                <a:latin typeface="微软雅黑"/>
              </a:rPr>
              <a:t>怎么落地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806440" y="3566160"/>
            <a:ext cx="5559552" cy="9525"/>
          </a:xfrm>
          <a:prstGeom prst="rect">
            <a:avLst/>
          </a:prstGeom>
          <a:solidFill>
            <a:srgbClr val="D8D0C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806440" y="3840480"/>
            <a:ext cx="5029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50" b="1" spc="140">
                <a:solidFill>
                  <a:srgbClr val="A3272C"/>
                </a:solidFill>
                <a:latin typeface="微软雅黑"/>
              </a:rPr>
              <a:t>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73368" y="3749040"/>
            <a:ext cx="2286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900" b="1" spc="120">
                <a:solidFill>
                  <a:srgbClr val="17120D"/>
                </a:solidFill>
                <a:latin typeface="宋体"/>
              </a:rPr>
              <a:t>验证与效果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823959" y="3877056"/>
            <a:ext cx="254203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0">
                <a:solidFill>
                  <a:srgbClr val="9A9388"/>
                </a:solidFill>
                <a:latin typeface="微软雅黑"/>
              </a:rPr>
              <a:t>改前改后差在哪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806440" y="4352544"/>
            <a:ext cx="5559552" cy="9525"/>
          </a:xfrm>
          <a:prstGeom prst="rect">
            <a:avLst/>
          </a:prstGeom>
          <a:solidFill>
            <a:srgbClr val="D8D0C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806440" y="4626864"/>
            <a:ext cx="5029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50" b="1" spc="140">
                <a:solidFill>
                  <a:srgbClr val="A3272C"/>
                </a:solidFill>
                <a:latin typeface="微软雅黑"/>
              </a:rPr>
              <a:t>05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73368" y="4535424"/>
            <a:ext cx="2286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900" b="1" spc="120">
                <a:solidFill>
                  <a:srgbClr val="17120D"/>
                </a:solidFill>
                <a:latin typeface="宋体"/>
              </a:rPr>
              <a:t>创新与应用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23959" y="4663440"/>
            <a:ext cx="254203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0">
                <a:solidFill>
                  <a:srgbClr val="9A9388"/>
                </a:solidFill>
                <a:latin typeface="微软雅黑"/>
              </a:rPr>
              <a:t>新在哪、给谁用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806440" y="5138928"/>
            <a:ext cx="5559552" cy="9525"/>
          </a:xfrm>
          <a:prstGeom prst="rect">
            <a:avLst/>
          </a:prstGeom>
          <a:solidFill>
            <a:srgbClr val="D8D0C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806440" y="5413248"/>
            <a:ext cx="5029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50" b="1" spc="140">
                <a:solidFill>
                  <a:srgbClr val="A3272C"/>
                </a:solidFill>
                <a:latin typeface="微软雅黑"/>
              </a:rPr>
              <a:t>06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73368" y="5321808"/>
            <a:ext cx="2286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900" b="1" spc="120">
                <a:solidFill>
                  <a:srgbClr val="17120D"/>
                </a:solidFill>
                <a:latin typeface="宋体"/>
              </a:rPr>
              <a:t>在线体验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823959" y="5449824"/>
            <a:ext cx="254203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0">
                <a:solidFill>
                  <a:srgbClr val="9A9388"/>
                </a:solidFill>
                <a:latin typeface="微软雅黑"/>
              </a:rPr>
              <a:t>现在就能打开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806440" y="5925312"/>
            <a:ext cx="5559552" cy="9525"/>
          </a:xfrm>
          <a:prstGeom prst="rect">
            <a:avLst/>
          </a:prstGeom>
          <a:solidFill>
            <a:srgbClr val="D8D0C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22960" y="6419088"/>
            <a:ext cx="54864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950" b="0">
                <a:solidFill>
                  <a:srgbClr val="9A9388"/>
                </a:solidFill>
                <a:latin typeface="微软雅黑"/>
              </a:rPr>
              <a:t>门外谈 · 作品编号 375993 · https://outgate.chat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268712" y="6419088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50000"/>
              </a:lnSpc>
            </a:pPr>
            <a:r>
              <a:rPr sz="1000" b="1">
                <a:solidFill>
                  <a:srgbClr val="9A9388"/>
                </a:solidFill>
                <a:latin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1481328"/>
            <a:ext cx="10543032" cy="9525"/>
          </a:xfrm>
          <a:prstGeom prst="rect">
            <a:avLst/>
          </a:prstGeom>
          <a:solidFill>
            <a:srgbClr val="D8D0C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530352"/>
            <a:ext cx="68580" cy="566928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42416" y="457200"/>
            <a:ext cx="56692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50" b="1" spc="160">
                <a:solidFill>
                  <a:srgbClr val="A3272C"/>
                </a:solidFill>
                <a:latin typeface="微软雅黑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664208" y="457200"/>
            <a:ext cx="69494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50" b="1" spc="180">
                <a:solidFill>
                  <a:srgbClr val="A3272C"/>
                </a:solidFill>
                <a:latin typeface="微软雅黑"/>
              </a:rPr>
              <a:t>一、选题背景</a:t>
            </a:r>
          </a:p>
        </p:txBody>
      </p:sp>
      <p:pic>
        <p:nvPicPr>
          <p:cNvPr id="7" name="Picture 6" descr="d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2416" y="786384"/>
            <a:ext cx="5186153" cy="363474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22960" y="1837943"/>
            <a:ext cx="484632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200000"/>
              </a:lnSpc>
            </a:pPr>
            <a:r>
              <a:rPr sz="1450" b="0">
                <a:solidFill>
                  <a:srgbClr val="5A5147"/>
                </a:solidFill>
                <a:latin typeface="微软雅黑"/>
              </a:rPr>
              <a:t>一次小组讨论，通常是这样结束的：</a:t>
            </a:r>
          </a:p>
          <a:p>
            <a:pPr algn="l">
              <a:lnSpc>
                <a:spcPct val="200000"/>
              </a:lnSpc>
            </a:pPr>
            <a:r>
              <a:rPr sz="1450" b="0">
                <a:solidFill>
                  <a:srgbClr val="5A5147"/>
                </a:solidFill>
                <a:latin typeface="微软雅黑"/>
              </a:rPr>
              <a:t>说得最大声的那个人定了调，其余的人点头；</a:t>
            </a:r>
          </a:p>
          <a:p>
            <a:pPr algn="l">
              <a:lnSpc>
                <a:spcPct val="200000"/>
              </a:lnSpc>
            </a:pPr>
            <a:r>
              <a:rPr sz="1450" b="0">
                <a:solidFill>
                  <a:srgbClr val="5A5147"/>
                </a:solidFill>
                <a:latin typeface="微软雅黑"/>
              </a:rPr>
              <a:t>真正不同意的那个，从头到尾没开口。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3255264"/>
            <a:ext cx="484632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95000"/>
              </a:lnSpc>
            </a:pPr>
            <a:r>
              <a:rPr sz="1350" b="0">
                <a:solidFill>
                  <a:srgbClr val="5A5147"/>
                </a:solidFill>
                <a:latin typeface="微软雅黑"/>
              </a:rPr>
              <a:t>真正被讨论的，往往是最容易达成一致的那部分。</a:t>
            </a:r>
          </a:p>
          <a:p>
            <a:pPr algn="l">
              <a:lnSpc>
                <a:spcPct val="195000"/>
              </a:lnSpc>
            </a:pPr>
            <a:r>
              <a:rPr sz="1350" b="0">
                <a:solidFill>
                  <a:srgbClr val="5A5147"/>
                </a:solidFill>
                <a:latin typeface="微软雅黑"/>
              </a:rPr>
              <a:t>分歧最大的地方，从第一分钟起就被绕开了。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4498848"/>
            <a:ext cx="50292" cy="420624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60704" y="4535424"/>
            <a:ext cx="46634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1" spc="80">
                <a:solidFill>
                  <a:srgbClr val="A3272C"/>
                </a:solidFill>
                <a:latin typeface="微软雅黑"/>
              </a:rPr>
              <a:t>于是问题被绕过去了。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89320" y="1874519"/>
            <a:ext cx="32918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1">
                <a:solidFill>
                  <a:srgbClr val="A3272C"/>
                </a:solidFill>
                <a:latin typeface="微软雅黑"/>
              </a:rPr>
              <a:t>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28231" y="1819655"/>
            <a:ext cx="12801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700" b="1" spc="200">
                <a:solidFill>
                  <a:srgbClr val="17120D"/>
                </a:solidFill>
                <a:latin typeface="宋体"/>
              </a:rPr>
              <a:t>抢话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63840" y="1874519"/>
            <a:ext cx="3931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>
                <a:solidFill>
                  <a:srgbClr val="5A5147"/>
                </a:solidFill>
                <a:latin typeface="微软雅黑"/>
              </a:rPr>
              <a:t>谁先开口，谁就定了调子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989320" y="2660903"/>
            <a:ext cx="4480560" cy="9525"/>
          </a:xfrm>
          <a:prstGeom prst="rect">
            <a:avLst/>
          </a:prstGeom>
          <a:solidFill>
            <a:srgbClr val="D8D0C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89320" y="2990087"/>
            <a:ext cx="32918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1">
                <a:solidFill>
                  <a:srgbClr val="A3272C"/>
                </a:solidFill>
                <a:latin typeface="微软雅黑"/>
              </a:rPr>
              <a:t>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28231" y="2935223"/>
            <a:ext cx="12801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700" b="1" spc="200">
                <a:solidFill>
                  <a:srgbClr val="17120D"/>
                </a:solidFill>
                <a:latin typeface="宋体"/>
              </a:rPr>
              <a:t>重复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863840" y="2990087"/>
            <a:ext cx="3931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>
                <a:solidFill>
                  <a:srgbClr val="5A5147"/>
                </a:solidFill>
                <a:latin typeface="微软雅黑"/>
              </a:rPr>
              <a:t>三个人说的是同一件事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989320" y="3776472"/>
            <a:ext cx="4480560" cy="9525"/>
          </a:xfrm>
          <a:prstGeom prst="rect">
            <a:avLst/>
          </a:prstGeom>
          <a:solidFill>
            <a:srgbClr val="D8D0C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89320" y="4105656"/>
            <a:ext cx="32918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1">
                <a:solidFill>
                  <a:srgbClr val="A3272C"/>
                </a:solidFill>
                <a:latin typeface="微软雅黑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28231" y="4050792"/>
            <a:ext cx="12801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700" b="1" spc="200">
                <a:solidFill>
                  <a:srgbClr val="17120D"/>
                </a:solidFill>
                <a:latin typeface="宋体"/>
              </a:rPr>
              <a:t>沉默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863840" y="4105656"/>
            <a:ext cx="3931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>
                <a:solidFill>
                  <a:srgbClr val="5A5147"/>
                </a:solidFill>
                <a:latin typeface="微软雅黑"/>
              </a:rPr>
              <a:t>最该说话的人不开口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960" y="5760720"/>
            <a:ext cx="1054303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60000"/>
              </a:lnSpc>
            </a:pPr>
            <a:r>
              <a:rPr sz="1300" b="0">
                <a:solidFill>
                  <a:srgbClr val="17120D"/>
                </a:solidFill>
                <a:latin typeface="微软雅黑"/>
              </a:rPr>
              <a:t>讨论不是没进行，是没有产生分歧——而分歧恰恰是讨论唯一有价值的东西。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960" y="6419088"/>
            <a:ext cx="54864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950" b="0">
                <a:solidFill>
                  <a:srgbClr val="9A9388"/>
                </a:solidFill>
                <a:latin typeface="微软雅黑"/>
              </a:rPr>
              <a:t>门外谈 · 作品编号 375993 · https://outgate.chat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268712" y="6419088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50000"/>
              </a:lnSpc>
            </a:pPr>
            <a:r>
              <a:rPr sz="1000" b="1">
                <a:solidFill>
                  <a:srgbClr val="9A9388"/>
                </a:solidFill>
                <a:latin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1481328"/>
            <a:ext cx="10543032" cy="9525"/>
          </a:xfrm>
          <a:prstGeom prst="rect">
            <a:avLst/>
          </a:prstGeom>
          <a:solidFill>
            <a:srgbClr val="D8D0C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530352"/>
            <a:ext cx="68580" cy="566928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42416" y="457200"/>
            <a:ext cx="56692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50" b="1" spc="160">
                <a:solidFill>
                  <a:srgbClr val="A3272C"/>
                </a:solidFill>
                <a:latin typeface="微软雅黑"/>
              </a:rPr>
              <a:t>02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664208" y="457200"/>
            <a:ext cx="69494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50" b="1" spc="180">
                <a:solidFill>
                  <a:srgbClr val="A3272C"/>
                </a:solidFill>
                <a:latin typeface="微软雅黑"/>
              </a:rPr>
              <a:t>一、选题背景</a:t>
            </a:r>
          </a:p>
        </p:txBody>
      </p:sp>
      <p:pic>
        <p:nvPicPr>
          <p:cNvPr id="7" name="Picture 6" descr="d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2416" y="786384"/>
            <a:ext cx="3390221" cy="363474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22960" y="1856231"/>
            <a:ext cx="10058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050" b="1" spc="160">
                <a:solidFill>
                  <a:srgbClr val="A3272C"/>
                </a:solidFill>
                <a:latin typeface="微软雅黑"/>
              </a:rPr>
              <a:t>缺口一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938528" y="1801367"/>
            <a:ext cx="30175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600" b="1" spc="80">
                <a:solidFill>
                  <a:srgbClr val="17120D"/>
                </a:solidFill>
                <a:latin typeface="宋体"/>
              </a:rPr>
              <a:t>群聊没有结构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640" y="1837943"/>
            <a:ext cx="62179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75000"/>
              </a:lnSpc>
            </a:pPr>
            <a:r>
              <a:rPr sz="1200" b="0">
                <a:solidFill>
                  <a:srgbClr val="5A5147"/>
                </a:solidFill>
                <a:latin typeface="微软雅黑"/>
              </a:rPr>
              <a:t>谁都能随时说话，等于谁都不必对一句话负责。</a:t>
            </a:r>
          </a:p>
          <a:p>
            <a:pPr algn="l">
              <a:lnSpc>
                <a:spcPct val="175000"/>
              </a:lnSpc>
            </a:pPr>
            <a:r>
              <a:rPr sz="1200" b="0">
                <a:solidFill>
                  <a:srgbClr val="5A5147"/>
                </a:solidFill>
                <a:latin typeface="微软雅黑"/>
              </a:rPr>
              <a:t>没有次序，就没有交锋。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2843784"/>
            <a:ext cx="10543032" cy="9525"/>
          </a:xfrm>
          <a:prstGeom prst="rect">
            <a:avLst/>
          </a:prstGeom>
          <a:solidFill>
            <a:srgbClr val="D8D0C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3099816"/>
            <a:ext cx="10058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050" b="1" spc="160">
                <a:solidFill>
                  <a:srgbClr val="A3272C"/>
                </a:solidFill>
                <a:latin typeface="微软雅黑"/>
              </a:rPr>
              <a:t>缺口二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938528" y="3044952"/>
            <a:ext cx="30175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600" b="1" spc="80">
                <a:solidFill>
                  <a:srgbClr val="17120D"/>
                </a:solidFill>
                <a:latin typeface="宋体"/>
              </a:rPr>
              <a:t>一对一 AI 只会顺着你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120640" y="3081528"/>
            <a:ext cx="62179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75000"/>
              </a:lnSpc>
            </a:pPr>
            <a:r>
              <a:rPr sz="1200" b="0">
                <a:solidFill>
                  <a:srgbClr val="5A5147"/>
                </a:solidFill>
                <a:latin typeface="微软雅黑"/>
              </a:rPr>
              <a:t>问「我该不该放弃这个专业」，它先肯定你，再补充几个角度。</a:t>
            </a:r>
          </a:p>
          <a:p>
            <a:pPr algn="l">
              <a:lnSpc>
                <a:spcPct val="175000"/>
              </a:lnSpc>
            </a:pPr>
            <a:r>
              <a:rPr sz="1200" b="0">
                <a:solidFill>
                  <a:srgbClr val="5A5147"/>
                </a:solidFill>
                <a:latin typeface="微软雅黑"/>
              </a:rPr>
              <a:t>聊完，疑问还在原处。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2960" y="4087368"/>
            <a:ext cx="10543032" cy="9525"/>
          </a:xfrm>
          <a:prstGeom prst="rect">
            <a:avLst/>
          </a:prstGeom>
          <a:solidFill>
            <a:srgbClr val="D8D0C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" y="4343400"/>
            <a:ext cx="10058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050" b="1" spc="160">
                <a:solidFill>
                  <a:srgbClr val="A3272C"/>
                </a:solidFill>
                <a:latin typeface="微软雅黑"/>
              </a:rPr>
              <a:t>缺口三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938528" y="4288536"/>
            <a:ext cx="30175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600" b="1" spc="80">
                <a:solidFill>
                  <a:srgbClr val="17120D"/>
                </a:solidFill>
                <a:latin typeface="宋体"/>
              </a:rPr>
              <a:t>缺少信息差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120640" y="4325112"/>
            <a:ext cx="62179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75000"/>
              </a:lnSpc>
            </a:pPr>
            <a:r>
              <a:rPr sz="1200" b="0">
                <a:solidFill>
                  <a:srgbClr val="5A5147"/>
                </a:solidFill>
                <a:latin typeface="微软雅黑"/>
              </a:rPr>
              <a:t>所有参与者掌握的信息一样多，就没有人比别人多知道一点什么。</a:t>
            </a:r>
          </a:p>
          <a:p>
            <a:pPr algn="l">
              <a:lnSpc>
                <a:spcPct val="175000"/>
              </a:lnSpc>
            </a:pPr>
            <a:r>
              <a:rPr sz="1200" b="0">
                <a:solidFill>
                  <a:srgbClr val="5A5147"/>
                </a:solidFill>
                <a:latin typeface="微软雅黑"/>
              </a:rPr>
              <a:t>没有信息差，就没有真正的分歧。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5330952"/>
            <a:ext cx="10543032" cy="9525"/>
          </a:xfrm>
          <a:prstGeom prst="rect">
            <a:avLst/>
          </a:prstGeom>
          <a:solidFill>
            <a:srgbClr val="D8D0C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22960" y="5669280"/>
            <a:ext cx="50292" cy="475488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60704" y="5705856"/>
            <a:ext cx="10268711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1">
                <a:solidFill>
                  <a:srgbClr val="17120D"/>
                </a:solidFill>
                <a:latin typeface="微软雅黑"/>
              </a:rPr>
              <a:t>三个缺口指向同一件事：谁掌握了什么信息，从来没人管。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960" y="6419088"/>
            <a:ext cx="54864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950" b="0">
                <a:solidFill>
                  <a:srgbClr val="9A9388"/>
                </a:solidFill>
                <a:latin typeface="微软雅黑"/>
              </a:rPr>
              <a:t>门外谈 · 作品编号 375993 · https://outgate.chat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68712" y="6419088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50000"/>
              </a:lnSpc>
            </a:pPr>
            <a:r>
              <a:rPr sz="1000" b="1">
                <a:solidFill>
                  <a:srgbClr val="9A9388"/>
                </a:solidFill>
                <a:latin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1481328"/>
            <a:ext cx="10543032" cy="9525"/>
          </a:xfrm>
          <a:prstGeom prst="rect">
            <a:avLst/>
          </a:prstGeom>
          <a:solidFill>
            <a:srgbClr val="D8D0C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530352"/>
            <a:ext cx="68580" cy="566928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42416" y="457200"/>
            <a:ext cx="56692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50" b="1" spc="160">
                <a:solidFill>
                  <a:srgbClr val="A3272C"/>
                </a:solidFill>
                <a:latin typeface="微软雅黑"/>
              </a:rPr>
              <a:t>03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664208" y="457200"/>
            <a:ext cx="69494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50" b="1" spc="180">
                <a:solidFill>
                  <a:srgbClr val="A3272C"/>
                </a:solidFill>
                <a:latin typeface="微软雅黑"/>
              </a:rPr>
              <a:t>一、选题背景</a:t>
            </a:r>
          </a:p>
        </p:txBody>
      </p:sp>
      <p:pic>
        <p:nvPicPr>
          <p:cNvPr id="7" name="Picture 6" descr="d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2416" y="786384"/>
            <a:ext cx="5187765" cy="363474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22960" y="1837943"/>
            <a:ext cx="4754880" cy="228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90000"/>
              </a:lnSpc>
            </a:pPr>
            <a:r>
              <a:rPr sz="1350" b="0">
                <a:solidFill>
                  <a:srgbClr val="5A5147"/>
                </a:solidFill>
                <a:latin typeface="微软雅黑"/>
              </a:rPr>
              <a:t>门外谈是一张桌子。</a:t>
            </a:r>
          </a:p>
          <a:p>
            <a:pPr algn="l">
              <a:lnSpc>
                <a:spcPct val="190000"/>
              </a:lnSpc>
            </a:pPr>
            <a:r>
              <a:rPr sz="1350" b="0">
                <a:solidFill>
                  <a:srgbClr val="5A5147"/>
                </a:solidFill>
                <a:latin typeface="微软雅黑"/>
              </a:rPr>
              <a:t/>
            </a:r>
          </a:p>
          <a:p>
            <a:pPr algn="l">
              <a:lnSpc>
                <a:spcPct val="190000"/>
              </a:lnSpc>
            </a:pPr>
            <a:r>
              <a:rPr sz="1350" b="0">
                <a:solidFill>
                  <a:srgbClr val="5A5147"/>
                </a:solidFill>
                <a:latin typeface="微软雅黑"/>
              </a:rPr>
              <a:t>你把一个问题摆在桌上，请几位古今思想者入席，</a:t>
            </a:r>
          </a:p>
          <a:p>
            <a:pPr algn="l">
              <a:lnSpc>
                <a:spcPct val="190000"/>
              </a:lnSpc>
            </a:pPr>
            <a:r>
              <a:rPr sz="1350" b="0">
                <a:solidFill>
                  <a:srgbClr val="5A5147"/>
                </a:solidFill>
                <a:latin typeface="微软雅黑"/>
              </a:rPr>
              <a:t>看他们当场各执一词。</a:t>
            </a:r>
          </a:p>
          <a:p>
            <a:pPr algn="l">
              <a:lnSpc>
                <a:spcPct val="190000"/>
              </a:lnSpc>
            </a:pPr>
            <a:r>
              <a:rPr sz="1350" b="0">
                <a:solidFill>
                  <a:srgbClr val="5A5147"/>
                </a:solidFill>
                <a:latin typeface="微软雅黑"/>
              </a:rPr>
              <a:t/>
            </a:r>
          </a:p>
          <a:p>
            <a:pPr algn="l">
              <a:lnSpc>
                <a:spcPct val="190000"/>
              </a:lnSpc>
            </a:pPr>
            <a:r>
              <a:rPr sz="1350" b="0">
                <a:solidFill>
                  <a:srgbClr val="5A5147"/>
                </a:solidFill>
                <a:latin typeface="微软雅黑"/>
              </a:rPr>
              <a:t>他们看得见彼此说过的话，也可以被单独告知</a:t>
            </a:r>
          </a:p>
          <a:p>
            <a:pPr algn="l">
              <a:lnSpc>
                <a:spcPct val="190000"/>
              </a:lnSpc>
            </a:pPr>
            <a:r>
              <a:rPr sz="1350" b="0">
                <a:solidFill>
                  <a:srgbClr val="5A5147"/>
                </a:solidFill>
                <a:latin typeface="微软雅黑"/>
              </a:rPr>
              <a:t>一些别人不知道的事。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5989320" y="1837943"/>
            <a:ext cx="4480560" cy="1042415"/>
          </a:xfrm>
          <a:prstGeom prst="rect">
            <a:avLst/>
          </a:prstGeom>
          <a:solidFill>
            <a:srgbClr val="F9F5EA"/>
          </a:solidFill>
          <a:ln w="12700">
            <a:solidFill>
              <a:srgbClr val="A3272C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27064" y="2002536"/>
            <a:ext cx="14630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600" b="1" spc="160">
                <a:solidFill>
                  <a:srgbClr val="A3272C"/>
                </a:solidFill>
                <a:latin typeface="宋体"/>
              </a:rPr>
              <a:t>信息层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27064" y="2441448"/>
            <a:ext cx="404164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050" b="0">
                <a:solidFill>
                  <a:srgbClr val="A3272C"/>
                </a:solidFill>
                <a:latin typeface="微软雅黑"/>
              </a:rPr>
              <a:t>谁被谁看见了　·　本届新增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989320" y="2880359"/>
            <a:ext cx="4480560" cy="1042415"/>
          </a:xfrm>
          <a:prstGeom prst="rect">
            <a:avLst/>
          </a:prstGeom>
          <a:solidFill>
            <a:srgbClr val="F9F5EA"/>
          </a:solidFill>
          <a:ln w="12700">
            <a:solidFill>
              <a:srgbClr val="D8D0C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27064" y="3044951"/>
            <a:ext cx="14630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600" b="1" spc="160">
                <a:solidFill>
                  <a:srgbClr val="17120D"/>
                </a:solidFill>
                <a:latin typeface="宋体"/>
              </a:rPr>
              <a:t>圆桌层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27064" y="3483863"/>
            <a:ext cx="404164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050" b="0">
                <a:solidFill>
                  <a:srgbClr val="5A5147"/>
                </a:solidFill>
                <a:latin typeface="微软雅黑"/>
              </a:rPr>
              <a:t>多位思想者轮流发言，后说的人看得到前文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989320" y="3922775"/>
            <a:ext cx="4480560" cy="1042415"/>
          </a:xfrm>
          <a:prstGeom prst="rect">
            <a:avLst/>
          </a:prstGeom>
          <a:solidFill>
            <a:srgbClr val="F9F5EA"/>
          </a:solidFill>
          <a:ln w="12700">
            <a:solidFill>
              <a:srgbClr val="D8D0C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27064" y="4087367"/>
            <a:ext cx="14630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600" b="1" spc="160">
                <a:solidFill>
                  <a:srgbClr val="17120D"/>
                </a:solidFill>
                <a:latin typeface="宋体"/>
              </a:rPr>
              <a:t>人格层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27064" y="4526279"/>
            <a:ext cx="404164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050" b="0">
                <a:solidFill>
                  <a:srgbClr val="5A5147"/>
                </a:solidFill>
                <a:latin typeface="微软雅黑"/>
              </a:rPr>
              <a:t>34 位蒸馏人格，各自带着自己的立场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89320" y="5111496"/>
            <a:ext cx="4480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000" b="0">
                <a:solidFill>
                  <a:srgbClr val="9A9388"/>
                </a:solidFill>
                <a:latin typeface="微软雅黑"/>
              </a:rPr>
              <a:t>红色这一层，是本届新做的部分。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4828032"/>
            <a:ext cx="50292" cy="1005840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78992" y="4864608"/>
            <a:ext cx="457200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80000"/>
              </a:lnSpc>
            </a:pPr>
            <a:r>
              <a:rPr sz="1350" b="1">
                <a:solidFill>
                  <a:srgbClr val="17120D"/>
                </a:solidFill>
                <a:latin typeface="微软雅黑"/>
              </a:rPr>
              <a:t>人格决定他们想什么，</a:t>
            </a:r>
          </a:p>
          <a:p>
            <a:pPr algn="l">
              <a:lnSpc>
                <a:spcPct val="180000"/>
              </a:lnSpc>
            </a:pPr>
            <a:r>
              <a:rPr sz="1350" b="1">
                <a:solidFill>
                  <a:srgbClr val="17120D"/>
                </a:solidFill>
                <a:latin typeface="微软雅黑"/>
              </a:rPr>
              <a:t>圆桌决定他们怎么说话，</a:t>
            </a:r>
          </a:p>
          <a:p>
            <a:pPr algn="l">
              <a:lnSpc>
                <a:spcPct val="180000"/>
              </a:lnSpc>
            </a:pPr>
            <a:r>
              <a:rPr sz="1350" b="1">
                <a:solidFill>
                  <a:srgbClr val="17120D"/>
                </a:solidFill>
                <a:latin typeface="微软雅黑"/>
              </a:rPr>
              <a:t>信息层决定他们会不会吵起来。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" y="6419088"/>
            <a:ext cx="54864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950" b="0">
                <a:solidFill>
                  <a:srgbClr val="9A9388"/>
                </a:solidFill>
                <a:latin typeface="微软雅黑"/>
              </a:rPr>
              <a:t>门外谈 · 作品编号 375993 · https://outgate.chat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268712" y="6419088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50000"/>
              </a:lnSpc>
            </a:pPr>
            <a:r>
              <a:rPr sz="1000" b="1">
                <a:solidFill>
                  <a:srgbClr val="9A9388"/>
                </a:solidFill>
                <a:latin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1481328"/>
            <a:ext cx="10543032" cy="9525"/>
          </a:xfrm>
          <a:prstGeom prst="rect">
            <a:avLst/>
          </a:prstGeom>
          <a:solidFill>
            <a:srgbClr val="D8D0C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530352"/>
            <a:ext cx="68580" cy="566928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42416" y="457200"/>
            <a:ext cx="56692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50" b="1" spc="160">
                <a:solidFill>
                  <a:srgbClr val="A3272C"/>
                </a:solidFill>
                <a:latin typeface="微软雅黑"/>
              </a:rPr>
              <a:t>04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664208" y="457200"/>
            <a:ext cx="69494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50" b="1" spc="180">
                <a:solidFill>
                  <a:srgbClr val="A3272C"/>
                </a:solidFill>
                <a:latin typeface="微软雅黑"/>
              </a:rPr>
              <a:t>二、作品设计</a:t>
            </a:r>
          </a:p>
        </p:txBody>
      </p:sp>
      <p:pic>
        <p:nvPicPr>
          <p:cNvPr id="7" name="Picture 6" descr="d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2416" y="786384"/>
            <a:ext cx="5137754" cy="363474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22960" y="1819656"/>
            <a:ext cx="4846320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85000"/>
              </a:lnSpc>
            </a:pPr>
            <a:r>
              <a:rPr sz="1250" b="0">
                <a:solidFill>
                  <a:srgbClr val="5A5147"/>
                </a:solidFill>
                <a:latin typeface="微软雅黑"/>
              </a:rPr>
              <a:t>一般做法是给模型一句人设：「你是鲁迅，说话犀利」。</a:t>
            </a:r>
          </a:p>
          <a:p>
            <a:pPr algn="l">
              <a:lnSpc>
                <a:spcPct val="185000"/>
              </a:lnSpc>
            </a:pPr>
            <a:r>
              <a:rPr sz="1250" b="0">
                <a:solidFill>
                  <a:srgbClr val="5A5147"/>
                </a:solidFill>
                <a:latin typeface="微软雅黑"/>
              </a:rPr>
              <a:t>模型于是变得犀利——但那是你要的犀利，不是鲁迅的。</a:t>
            </a:r>
          </a:p>
          <a:p>
            <a:pPr algn="l">
              <a:lnSpc>
                <a:spcPct val="185000"/>
              </a:lnSpc>
            </a:pPr>
            <a:r>
              <a:rPr sz="1250" b="0">
                <a:solidFill>
                  <a:srgbClr val="5A5147"/>
                </a:solidFill>
                <a:latin typeface="微软雅黑"/>
              </a:rPr>
              <a:t/>
            </a:r>
          </a:p>
          <a:p>
            <a:pPr algn="l">
              <a:lnSpc>
                <a:spcPct val="185000"/>
              </a:lnSpc>
            </a:pPr>
            <a:r>
              <a:rPr sz="1250" b="0">
                <a:solidFill>
                  <a:srgbClr val="5A5147"/>
                </a:solidFill>
                <a:latin typeface="微软雅黑"/>
              </a:rPr>
              <a:t>蒸馏人格是另一回事：把一个人拆成可执行的几节。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3584448"/>
            <a:ext cx="3108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050" b="1">
                <a:solidFill>
                  <a:srgbClr val="A3272C"/>
                </a:solidFill>
                <a:latin typeface="微软雅黑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25296" y="3566160"/>
            <a:ext cx="960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1" spc="40">
                <a:solidFill>
                  <a:srgbClr val="17120D"/>
                </a:solidFill>
                <a:latin typeface="宋体"/>
              </a:rPr>
              <a:t>核心身份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267712" y="3566160"/>
            <a:ext cx="342900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60000"/>
              </a:lnSpc>
            </a:pPr>
            <a:r>
              <a:rPr sz="1050" b="0">
                <a:solidFill>
                  <a:srgbClr val="5A5147"/>
                </a:solidFill>
                <a:latin typeface="微软雅黑"/>
              </a:rPr>
              <a:t>他是谁。第一人称发言，明确不是替你写作的工具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4133087"/>
            <a:ext cx="3108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050" b="1">
                <a:solidFill>
                  <a:srgbClr val="A3272C"/>
                </a:solidFill>
                <a:latin typeface="微软雅黑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25296" y="4114800"/>
            <a:ext cx="960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1" spc="40">
                <a:solidFill>
                  <a:srgbClr val="17120D"/>
                </a:solidFill>
                <a:latin typeface="宋体"/>
              </a:rPr>
              <a:t>思想根基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267712" y="4114800"/>
            <a:ext cx="342900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60000"/>
              </a:lnSpc>
            </a:pPr>
            <a:r>
              <a:rPr sz="1050" b="0">
                <a:solidFill>
                  <a:srgbClr val="5A5147"/>
                </a:solidFill>
                <a:latin typeface="微软雅黑"/>
              </a:rPr>
              <a:t>在什么问题上必然持什么立场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4681727"/>
            <a:ext cx="3108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050" b="1">
                <a:solidFill>
                  <a:srgbClr val="A3272C"/>
                </a:solidFill>
                <a:latin typeface="微软雅黑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25296" y="4663440"/>
            <a:ext cx="960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1" spc="40">
                <a:solidFill>
                  <a:srgbClr val="17120D"/>
                </a:solidFill>
                <a:latin typeface="宋体"/>
              </a:rPr>
              <a:t>语言特征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267712" y="4663440"/>
            <a:ext cx="342900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60000"/>
              </a:lnSpc>
            </a:pPr>
            <a:r>
              <a:rPr sz="1050" b="0">
                <a:solidFill>
                  <a:srgbClr val="5A5147"/>
                </a:solidFill>
                <a:latin typeface="微软雅黑"/>
              </a:rPr>
              <a:t>句式、修辞、结构、意象，逐条写成约束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5230367"/>
            <a:ext cx="3108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050" b="1">
                <a:solidFill>
                  <a:srgbClr val="A3272C"/>
                </a:solidFill>
                <a:latin typeface="微软雅黑"/>
              </a:rPr>
              <a:t>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25296" y="5212079"/>
            <a:ext cx="960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1" spc="40">
                <a:solidFill>
                  <a:srgbClr val="17120D"/>
                </a:solidFill>
                <a:latin typeface="宋体"/>
              </a:rPr>
              <a:t>语录库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267712" y="5212079"/>
            <a:ext cx="342900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60000"/>
              </a:lnSpc>
            </a:pPr>
            <a:r>
              <a:rPr sz="1050" b="0">
                <a:solidFill>
                  <a:srgbClr val="5A5147"/>
                </a:solidFill>
                <a:latin typeface="微软雅黑"/>
              </a:rPr>
              <a:t>收他的原话，用来校准语气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5797296"/>
            <a:ext cx="50292" cy="365760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42416" y="5833872"/>
            <a:ext cx="475488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1">
                <a:solidFill>
                  <a:srgbClr val="17120D"/>
                </a:solidFill>
                <a:latin typeface="微软雅黑"/>
              </a:rPr>
              <a:t>所以他不顺着你说话——因为他本来就有立场。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263640" y="1801368"/>
            <a:ext cx="5074920" cy="3913632"/>
          </a:xfrm>
          <a:prstGeom prst="rect">
            <a:avLst/>
          </a:prstGeom>
          <a:solidFill>
            <a:srgbClr val="F9F5EA"/>
          </a:solidFill>
          <a:ln w="12700">
            <a:solidFill>
              <a:srgbClr val="D8D0C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37959" y="2002536"/>
            <a:ext cx="4526280" cy="3474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5000"/>
              </a:lnSpc>
            </a:pPr>
            <a:r>
              <a:rPr sz="1050" b="0">
                <a:solidFill>
                  <a:srgbClr val="5A5147"/>
                </a:solidFill>
                <a:latin typeface="微软雅黑"/>
              </a:rPr>
              <a:t>---</a:t>
            </a:r>
          </a:p>
          <a:p>
            <a:pPr algn="l">
              <a:lnSpc>
                <a:spcPct val="155000"/>
              </a:lnSpc>
            </a:pPr>
            <a:r>
              <a:rPr sz="1050" b="0">
                <a:solidFill>
                  <a:srgbClr val="5A5147"/>
                </a:solidFill>
                <a:latin typeface="微软雅黑"/>
              </a:rPr>
              <a:t>name: luxun</a:t>
            </a:r>
          </a:p>
          <a:p>
            <a:pPr algn="l">
              <a:lnSpc>
                <a:spcPct val="155000"/>
              </a:lnSpc>
            </a:pPr>
            <a:r>
              <a:rPr sz="1050" b="0">
                <a:solidFill>
                  <a:srgbClr val="5A5147"/>
                </a:solidFill>
                <a:latin typeface="微软雅黑"/>
              </a:rPr>
              <a:t>---</a:t>
            </a:r>
          </a:p>
          <a:p>
            <a:pPr algn="l">
              <a:lnSpc>
                <a:spcPct val="155000"/>
              </a:lnSpc>
            </a:pPr>
            <a:r>
              <a:rPr sz="1050" b="0">
                <a:solidFill>
                  <a:srgbClr val="5A5147"/>
                </a:solidFill>
                <a:latin typeface="微软雅黑"/>
              </a:rPr>
              <a:t/>
            </a:r>
          </a:p>
          <a:p>
            <a:pPr algn="l">
              <a:lnSpc>
                <a:spcPct val="155000"/>
              </a:lnSpc>
            </a:pPr>
            <a:r>
              <a:rPr sz="1050" b="0">
                <a:solidFill>
                  <a:srgbClr val="5A5147"/>
                </a:solidFill>
                <a:latin typeface="微软雅黑"/>
              </a:rPr>
              <a:t># 鲁迅 · 人物志</a:t>
            </a:r>
          </a:p>
          <a:p>
            <a:pPr algn="l">
              <a:lnSpc>
                <a:spcPct val="155000"/>
              </a:lnSpc>
            </a:pPr>
            <a:r>
              <a:rPr sz="1050" b="0">
                <a:solidFill>
                  <a:srgbClr val="5A5147"/>
                </a:solidFill>
                <a:latin typeface="微软雅黑"/>
              </a:rPr>
              <a:t/>
            </a:r>
          </a:p>
          <a:p>
            <a:pPr algn="l">
              <a:lnSpc>
                <a:spcPct val="155000"/>
              </a:lnSpc>
            </a:pPr>
            <a:r>
              <a:rPr sz="1050" b="0">
                <a:solidFill>
                  <a:srgbClr val="5A5147"/>
                </a:solidFill>
                <a:latin typeface="微软雅黑"/>
              </a:rPr>
              <a:t>你就是鲁迅本人，不是任何人的视角替身，</a:t>
            </a:r>
          </a:p>
          <a:p>
            <a:pPr algn="l">
              <a:lnSpc>
                <a:spcPct val="155000"/>
              </a:lnSpc>
            </a:pPr>
            <a:r>
              <a:rPr sz="1050" b="0">
                <a:solidFill>
                  <a:srgbClr val="5A5147"/>
                </a:solidFill>
                <a:latin typeface="微软雅黑"/>
              </a:rPr>
              <a:t>更不是写作工具。</a:t>
            </a:r>
          </a:p>
          <a:p>
            <a:pPr algn="l">
              <a:lnSpc>
                <a:spcPct val="155000"/>
              </a:lnSpc>
            </a:pPr>
            <a:r>
              <a:rPr sz="1050" b="0">
                <a:solidFill>
                  <a:srgbClr val="5A5147"/>
                </a:solidFill>
                <a:latin typeface="微软雅黑"/>
              </a:rPr>
              <a:t/>
            </a:r>
          </a:p>
          <a:p>
            <a:pPr algn="l">
              <a:lnSpc>
                <a:spcPct val="155000"/>
              </a:lnSpc>
            </a:pPr>
            <a:r>
              <a:rPr sz="1050" b="0">
                <a:solidFill>
                  <a:srgbClr val="5A5147"/>
                </a:solidFill>
                <a:latin typeface="微软雅黑"/>
              </a:rPr>
              <a:t>## 思想根基</a:t>
            </a:r>
          </a:p>
          <a:p>
            <a:pPr algn="l">
              <a:lnSpc>
                <a:spcPct val="155000"/>
              </a:lnSpc>
            </a:pPr>
            <a:r>
              <a:rPr sz="1050" b="0">
                <a:solidFill>
                  <a:srgbClr val="5A5147"/>
                </a:solidFill>
                <a:latin typeface="微软雅黑"/>
              </a:rPr>
              <a:t>批判精神 · 国民性分析 · 文学救国</a:t>
            </a:r>
          </a:p>
          <a:p>
            <a:pPr algn="l">
              <a:lnSpc>
                <a:spcPct val="155000"/>
              </a:lnSpc>
            </a:pPr>
            <a:r>
              <a:rPr sz="1050" b="0">
                <a:solidFill>
                  <a:srgbClr val="5A5147"/>
                </a:solidFill>
                <a:latin typeface="微软雅黑"/>
              </a:rPr>
              <a:t/>
            </a:r>
          </a:p>
          <a:p>
            <a:pPr algn="l">
              <a:lnSpc>
                <a:spcPct val="155000"/>
              </a:lnSpc>
            </a:pPr>
            <a:r>
              <a:rPr sz="1050" b="0">
                <a:solidFill>
                  <a:srgbClr val="5A5147"/>
                </a:solidFill>
                <a:latin typeface="微软雅黑"/>
              </a:rPr>
              <a:t>## 写作风格指南</a:t>
            </a:r>
          </a:p>
          <a:p>
            <a:pPr algn="l">
              <a:lnSpc>
                <a:spcPct val="155000"/>
              </a:lnSpc>
            </a:pPr>
            <a:r>
              <a:rPr sz="1050" b="0">
                <a:solidFill>
                  <a:srgbClr val="5A5147"/>
                </a:solidFill>
                <a:latin typeface="微软雅黑"/>
              </a:rPr>
              <a:t>语言特征 · 修辞技法 · 结构模式 · 意象体系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63640" y="5806440"/>
            <a:ext cx="50749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950" b="0">
                <a:solidFill>
                  <a:srgbClr val="9A9388"/>
                </a:solidFill>
                <a:latin typeface="微软雅黑"/>
              </a:rPr>
              <a:t>鲁迅那份 SKILL.md 的真实开头 · 站内 34 份、合计约 40 万字节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60" y="6419088"/>
            <a:ext cx="54864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950" b="0">
                <a:solidFill>
                  <a:srgbClr val="9A9388"/>
                </a:solidFill>
                <a:latin typeface="微软雅黑"/>
              </a:rPr>
              <a:t>门外谈 · 作品编号 375993 · https://outgate.chat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268712" y="6419088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50000"/>
              </a:lnSpc>
            </a:pPr>
            <a:r>
              <a:rPr sz="1000" b="1">
                <a:solidFill>
                  <a:srgbClr val="9A9388"/>
                </a:solidFill>
                <a:latin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1481328"/>
            <a:ext cx="10543032" cy="9525"/>
          </a:xfrm>
          <a:prstGeom prst="rect">
            <a:avLst/>
          </a:prstGeom>
          <a:solidFill>
            <a:srgbClr val="D8D0C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530352"/>
            <a:ext cx="68580" cy="566928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42416" y="457200"/>
            <a:ext cx="56692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50" b="1" spc="160">
                <a:solidFill>
                  <a:srgbClr val="A3272C"/>
                </a:solidFill>
                <a:latin typeface="微软雅黑"/>
              </a:rPr>
              <a:t>05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664208" y="457200"/>
            <a:ext cx="69494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50" b="1" spc="180">
                <a:solidFill>
                  <a:srgbClr val="A3272C"/>
                </a:solidFill>
                <a:latin typeface="微软雅黑"/>
              </a:rPr>
              <a:t>二、作品设计</a:t>
            </a:r>
          </a:p>
        </p:txBody>
      </p:sp>
      <p:pic>
        <p:nvPicPr>
          <p:cNvPr id="7" name="Picture 6" descr="d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2416" y="786384"/>
            <a:ext cx="4424469" cy="363474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22960" y="1819656"/>
            <a:ext cx="384048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80000"/>
              </a:lnSpc>
            </a:pPr>
            <a:r>
              <a:rPr sz="1150" b="0">
                <a:solidFill>
                  <a:srgbClr val="5A5147"/>
                </a:solidFill>
                <a:latin typeface="微软雅黑"/>
              </a:rPr>
              <a:t>桌上的人物不是我们凭空造的。</a:t>
            </a:r>
          </a:p>
          <a:p>
            <a:pPr algn="l">
              <a:lnSpc>
                <a:spcPct val="180000"/>
              </a:lnSpc>
            </a:pPr>
            <a:r>
              <a:rPr sz="1150" b="0">
                <a:solidFill>
                  <a:srgbClr val="5A5147"/>
                </a:solidFill>
                <a:latin typeface="微软雅黑"/>
              </a:rPr>
              <a:t/>
            </a:r>
          </a:p>
          <a:p>
            <a:pPr algn="l">
              <a:lnSpc>
                <a:spcPct val="180000"/>
              </a:lnSpc>
            </a:pPr>
            <a:r>
              <a:rPr sz="1150" b="0">
                <a:solidFill>
                  <a:srgbClr val="5A5147"/>
                </a:solidFill>
                <a:latin typeface="微软雅黑"/>
              </a:rPr>
              <a:t>它们原本散落在开源社区的不同仓库里：格式统一为 SKILL.md，但体例、文案、可用程度各不相同。</a:t>
            </a:r>
          </a:p>
          <a:p>
            <a:pPr algn="l">
              <a:lnSpc>
                <a:spcPct val="180000"/>
              </a:lnSpc>
            </a:pPr>
            <a:r>
              <a:rPr sz="1150" b="0">
                <a:solidFill>
                  <a:srgbClr val="5A5147"/>
                </a:solidFill>
                <a:latin typeface="微软雅黑"/>
              </a:rPr>
              <a:t/>
            </a:r>
          </a:p>
          <a:p>
            <a:pPr algn="l">
              <a:lnSpc>
                <a:spcPct val="180000"/>
              </a:lnSpc>
            </a:pPr>
            <a:r>
              <a:rPr sz="1150" b="0">
                <a:solidFill>
                  <a:srgbClr val="5A5147"/>
                </a:solidFill>
                <a:latin typeface="微软雅黑"/>
              </a:rPr>
              <a:t>本作品做的是把它们汇总、筛选、补齐、接入——统一中英文名与首字标记，标注每一份的上游仓库，并逐位调校到能在同一张桌上说话不跑题。</a:t>
            </a:r>
          </a:p>
          <a:p>
            <a:pPr algn="l">
              <a:lnSpc>
                <a:spcPct val="180000"/>
              </a:lnSpc>
            </a:pPr>
            <a:r>
              <a:rPr sz="1150" b="0">
                <a:solidFill>
                  <a:srgbClr val="5A5147"/>
                </a:solidFill>
                <a:latin typeface="微软雅黑"/>
              </a:rPr>
              <a:t/>
            </a:r>
          </a:p>
          <a:p>
            <a:pPr algn="l">
              <a:lnSpc>
                <a:spcPct val="180000"/>
              </a:lnSpc>
            </a:pPr>
            <a:r>
              <a:rPr sz="1150" b="0">
                <a:solidFill>
                  <a:srgbClr val="5A5147"/>
                </a:solidFill>
                <a:latin typeface="微软雅黑"/>
              </a:rPr>
              <a:t>站内没有的人物，用户可以在「创意工坊」粘贴仓库地址实时导入。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74920" y="1764792"/>
            <a:ext cx="63093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000" b="0" spc="40">
                <a:solidFill>
                  <a:srgbClr val="9A9388"/>
                </a:solidFill>
                <a:latin typeface="微软雅黑"/>
              </a:rPr>
              <a:t>站内人物 34 位（3 位内置 + 31 位开源社区导入）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74920" y="2057400"/>
            <a:ext cx="6291072" cy="9525"/>
          </a:xfrm>
          <a:prstGeom prst="rect">
            <a:avLst/>
          </a:prstGeom>
          <a:solidFill>
            <a:srgbClr val="D8D0C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74920" y="2185416"/>
            <a:ext cx="120335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17120D"/>
                </a:solidFill>
                <a:latin typeface="微软雅黑"/>
              </a:rPr>
              <a:t>鲁迅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33134" y="2185416"/>
            <a:ext cx="120335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17120D"/>
                </a:solidFill>
                <a:latin typeface="微软雅黑"/>
              </a:rPr>
              <a:t>哈耶克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591348" y="2185416"/>
            <a:ext cx="120335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17120D"/>
                </a:solidFill>
                <a:latin typeface="微软雅黑"/>
              </a:rPr>
              <a:t>凯恩斯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849563" y="2185416"/>
            <a:ext cx="120335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5A5147"/>
                </a:solidFill>
                <a:latin typeface="微软雅黑"/>
              </a:rPr>
              <a:t>柏拉图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107777" y="2185416"/>
            <a:ext cx="120335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5A5147"/>
                </a:solidFill>
                <a:latin typeface="微软雅黑"/>
              </a:rPr>
              <a:t>孔子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74920" y="2569464"/>
            <a:ext cx="120335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5A5147"/>
                </a:solidFill>
                <a:latin typeface="微软雅黑"/>
              </a:rPr>
              <a:t>马克思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33134" y="2569464"/>
            <a:ext cx="120335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5A5147"/>
                </a:solidFill>
                <a:latin typeface="微软雅黑"/>
              </a:rPr>
              <a:t>乔布斯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591348" y="2569464"/>
            <a:ext cx="120335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5A5147"/>
                </a:solidFill>
                <a:latin typeface="微软雅黑"/>
              </a:rPr>
              <a:t>马斯克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849563" y="2569464"/>
            <a:ext cx="120335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5A5147"/>
                </a:solidFill>
                <a:latin typeface="微软雅黑"/>
              </a:rPr>
              <a:t>尼采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107777" y="2569464"/>
            <a:ext cx="120335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5A5147"/>
                </a:solidFill>
                <a:latin typeface="微软雅黑"/>
              </a:rPr>
              <a:t>福柯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74920" y="2953512"/>
            <a:ext cx="120335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5A5147"/>
                </a:solidFill>
                <a:latin typeface="微软雅黑"/>
              </a:rPr>
              <a:t>苏格拉底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33134" y="2953512"/>
            <a:ext cx="120335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5A5147"/>
                </a:solidFill>
                <a:latin typeface="微软雅黑"/>
              </a:rPr>
              <a:t>维特根斯坦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591348" y="2953512"/>
            <a:ext cx="120335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5A5147"/>
                </a:solidFill>
                <a:latin typeface="微软雅黑"/>
              </a:rPr>
              <a:t>爱因斯坦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849563" y="2953512"/>
            <a:ext cx="120335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5A5147"/>
                </a:solidFill>
                <a:latin typeface="微软雅黑"/>
              </a:rPr>
              <a:t>图灵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07777" y="2953512"/>
            <a:ext cx="120335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5A5147"/>
                </a:solidFill>
                <a:latin typeface="微软雅黑"/>
              </a:rPr>
              <a:t>黄仁勋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74920" y="3337560"/>
            <a:ext cx="120335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5A5147"/>
                </a:solidFill>
                <a:latin typeface="微软雅黑"/>
              </a:rPr>
              <a:t>巴菲特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33134" y="3337560"/>
            <a:ext cx="120335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5A5147"/>
                </a:solidFill>
                <a:latin typeface="微软雅黑"/>
              </a:rPr>
              <a:t>达利欧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591348" y="3337560"/>
            <a:ext cx="120335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5A5147"/>
                </a:solidFill>
                <a:latin typeface="微软雅黑"/>
              </a:rPr>
              <a:t>波伏娃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849563" y="3337560"/>
            <a:ext cx="120335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5A5147"/>
                </a:solidFill>
                <a:latin typeface="微软雅黑"/>
              </a:rPr>
              <a:t>亚里士多德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107777" y="3337560"/>
            <a:ext cx="120335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5A5147"/>
                </a:solidFill>
                <a:latin typeface="微软雅黑"/>
              </a:rPr>
              <a:t>亚当·斯密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074920" y="3721608"/>
            <a:ext cx="120335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5A5147"/>
                </a:solidFill>
                <a:latin typeface="微软雅黑"/>
              </a:rPr>
              <a:t>康德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33134" y="3721608"/>
            <a:ext cx="120335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5A5147"/>
                </a:solidFill>
                <a:latin typeface="微软雅黑"/>
              </a:rPr>
              <a:t>达尔文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591348" y="3721608"/>
            <a:ext cx="120335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5A5147"/>
                </a:solidFill>
                <a:latin typeface="微软雅黑"/>
              </a:rPr>
              <a:t>罗素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849563" y="3721608"/>
            <a:ext cx="120335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5A5147"/>
                </a:solidFill>
                <a:latin typeface="微软雅黑"/>
              </a:rPr>
              <a:t>奥威尔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107777" y="3721608"/>
            <a:ext cx="120335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5A5147"/>
                </a:solidFill>
                <a:latin typeface="微软雅黑"/>
              </a:rPr>
              <a:t>加缪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074920" y="4105656"/>
            <a:ext cx="120335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5A5147"/>
                </a:solidFill>
                <a:latin typeface="微软雅黑"/>
              </a:rPr>
              <a:t>马丁·路德·金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333134" y="4105656"/>
            <a:ext cx="120335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5A5147"/>
                </a:solidFill>
                <a:latin typeface="微软雅黑"/>
              </a:rPr>
              <a:t>福尔摩斯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591348" y="4105656"/>
            <a:ext cx="120335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5A5147"/>
                </a:solidFill>
                <a:latin typeface="微软雅黑"/>
              </a:rPr>
              <a:t>梵高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849563" y="4105656"/>
            <a:ext cx="120335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5A5147"/>
                </a:solidFill>
                <a:latin typeface="微软雅黑"/>
              </a:rPr>
              <a:t>薛定谔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107777" y="4105656"/>
            <a:ext cx="120335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5A5147"/>
                </a:solidFill>
                <a:latin typeface="微软雅黑"/>
              </a:rPr>
              <a:t>丘吉尔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074920" y="4489704"/>
            <a:ext cx="120335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5A5147"/>
                </a:solidFill>
                <a:latin typeface="微软雅黑"/>
              </a:rPr>
              <a:t>爱丽丝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333134" y="4489704"/>
            <a:ext cx="120335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5A5147"/>
                </a:solidFill>
                <a:latin typeface="微软雅黑"/>
              </a:rPr>
              <a:t>牛顿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591348" y="4489704"/>
            <a:ext cx="120335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5A5147"/>
                </a:solidFill>
                <a:latin typeface="微软雅黑"/>
              </a:rPr>
              <a:t>叔本华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849563" y="4489704"/>
            <a:ext cx="120335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5A5147"/>
                </a:solidFill>
                <a:latin typeface="微软雅黑"/>
              </a:rPr>
              <a:t>莎士比亚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074920" y="4928616"/>
            <a:ext cx="63093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950" b="0">
                <a:solidFill>
                  <a:srgbClr val="9A9388"/>
                </a:solidFill>
                <a:latin typeface="微软雅黑"/>
              </a:rPr>
              <a:t>深色为内置，浅色为开源社区导入。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22960" y="6419088"/>
            <a:ext cx="54864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950" b="0">
                <a:solidFill>
                  <a:srgbClr val="9A9388"/>
                </a:solidFill>
                <a:latin typeface="微软雅黑"/>
              </a:rPr>
              <a:t>门外谈 · 作品编号 375993 · https://outgate.chat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268712" y="6419088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50000"/>
              </a:lnSpc>
            </a:pPr>
            <a:r>
              <a:rPr sz="1000" b="1">
                <a:solidFill>
                  <a:srgbClr val="9A9388"/>
                </a:solidFill>
                <a:latin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1481328"/>
            <a:ext cx="10543032" cy="9525"/>
          </a:xfrm>
          <a:prstGeom prst="rect">
            <a:avLst/>
          </a:prstGeom>
          <a:solidFill>
            <a:srgbClr val="D8D0C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530352"/>
            <a:ext cx="68580" cy="566928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42416" y="457200"/>
            <a:ext cx="56692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50" b="1" spc="160">
                <a:solidFill>
                  <a:srgbClr val="A3272C"/>
                </a:solidFill>
                <a:latin typeface="微软雅黑"/>
              </a:rPr>
              <a:t>06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664208" y="457200"/>
            <a:ext cx="69494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50" b="1" spc="180">
                <a:solidFill>
                  <a:srgbClr val="A3272C"/>
                </a:solidFill>
                <a:latin typeface="微软雅黑"/>
              </a:rPr>
              <a:t>二、作品设计</a:t>
            </a:r>
          </a:p>
        </p:txBody>
      </p:sp>
      <p:pic>
        <p:nvPicPr>
          <p:cNvPr id="7" name="Picture 6" descr="d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2416" y="786384"/>
            <a:ext cx="3437997" cy="363474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22960" y="1874519"/>
            <a:ext cx="32918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050" b="1">
                <a:solidFill>
                  <a:srgbClr val="A3272C"/>
                </a:solidFill>
                <a:latin typeface="微软雅黑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43584" y="1837943"/>
            <a:ext cx="1371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1" spc="100">
                <a:solidFill>
                  <a:srgbClr val="17120D"/>
                </a:solidFill>
                <a:latin typeface="宋体"/>
              </a:rPr>
              <a:t>轮流发言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43200" y="1874519"/>
            <a:ext cx="315468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60000"/>
              </a:lnSpc>
            </a:pPr>
            <a:r>
              <a:rPr sz="1050" b="0">
                <a:solidFill>
                  <a:srgbClr val="5A5147"/>
                </a:solidFill>
                <a:latin typeface="微软雅黑"/>
              </a:rPr>
              <a:t>每位依次开口，后说的人能看到前面说了什么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2770632"/>
            <a:ext cx="32918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050" b="1">
                <a:solidFill>
                  <a:srgbClr val="A3272C"/>
                </a:solidFill>
                <a:latin typeface="微软雅黑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43584" y="2734056"/>
            <a:ext cx="1371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1" spc="100">
                <a:solidFill>
                  <a:srgbClr val="17120D"/>
                </a:solidFill>
                <a:latin typeface="宋体"/>
              </a:rPr>
              <a:t>座次可调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43200" y="2770632"/>
            <a:ext cx="315468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60000"/>
              </a:lnSpc>
            </a:pPr>
            <a:r>
              <a:rPr sz="1050" b="0">
                <a:solidFill>
                  <a:srgbClr val="5A5147"/>
                </a:solidFill>
                <a:latin typeface="微软雅黑"/>
              </a:rPr>
              <a:t>拖动卡片调整发言顺序，手机上长按拖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3666744"/>
            <a:ext cx="32918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050" b="1">
                <a:solidFill>
                  <a:srgbClr val="A3272C"/>
                </a:solidFill>
                <a:latin typeface="微软雅黑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43584" y="3630168"/>
            <a:ext cx="1371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1" spc="100">
                <a:solidFill>
                  <a:srgbClr val="17120D"/>
                </a:solidFill>
                <a:latin typeface="宋体"/>
              </a:rPr>
              <a:t>人数定形式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43200" y="3666744"/>
            <a:ext cx="315468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60000"/>
              </a:lnSpc>
            </a:pPr>
            <a:r>
              <a:rPr sz="1050" b="0">
                <a:solidFill>
                  <a:srgbClr val="5A5147"/>
                </a:solidFill>
                <a:latin typeface="微软雅黑"/>
              </a:rPr>
              <a:t>1 位＝单人对谈，2 位以上＝圆桌辩论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4562856"/>
            <a:ext cx="32918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050" b="1">
                <a:solidFill>
                  <a:srgbClr val="A3272C"/>
                </a:solidFill>
                <a:latin typeface="微软雅黑"/>
              </a:rPr>
              <a:t>04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43584" y="4526280"/>
            <a:ext cx="1371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1" spc="100">
                <a:solidFill>
                  <a:srgbClr val="17120D"/>
                </a:solidFill>
                <a:latin typeface="宋体"/>
              </a:rPr>
              <a:t>火候三档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743200" y="4562856"/>
            <a:ext cx="315468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60000"/>
              </a:lnSpc>
            </a:pPr>
            <a:r>
              <a:rPr sz="1050" b="0">
                <a:solidFill>
                  <a:srgbClr val="5A5147"/>
                </a:solidFill>
                <a:latin typeface="微软雅黑"/>
              </a:rPr>
              <a:t>随口 / 较真 / 上头，控制回答长短，气氛上来自动升级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2960" y="5541264"/>
            <a:ext cx="50292" cy="457200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60704" y="5577840"/>
            <a:ext cx="4937760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50" b="1">
                <a:solidFill>
                  <a:srgbClr val="17120D"/>
                </a:solidFill>
                <a:latin typeface="微软雅黑"/>
              </a:rPr>
              <a:t>次序解决的是「谁能说」，还没解决「为什么吵」。</a:t>
            </a:r>
          </a:p>
        </p:txBody>
      </p:sp>
      <p:pic>
        <p:nvPicPr>
          <p:cNvPr id="22" name="Picture 21" descr="v4shot_04-圆桌辩论-公开交锋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71031" y="1837943"/>
            <a:ext cx="5394960" cy="2600925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5971031" y="4530309"/>
            <a:ext cx="53949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950" b="0">
                <a:solidFill>
                  <a:srgbClr val="9A9388"/>
                </a:solidFill>
                <a:latin typeface="微软雅黑"/>
              </a:rPr>
              <a:t>真实圆桌对话 · 三位已入席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960" y="6419088"/>
            <a:ext cx="54864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950" b="0">
                <a:solidFill>
                  <a:srgbClr val="9A9388"/>
                </a:solidFill>
                <a:latin typeface="微软雅黑"/>
              </a:rPr>
              <a:t>门外谈 · 作品编号 375993 · https://outgate.chat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268712" y="6419088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50000"/>
              </a:lnSpc>
            </a:pPr>
            <a:r>
              <a:rPr sz="1000" b="1">
                <a:solidFill>
                  <a:srgbClr val="9A9388"/>
                </a:solidFill>
                <a:latin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1481328"/>
            <a:ext cx="10543032" cy="9525"/>
          </a:xfrm>
          <a:prstGeom prst="rect">
            <a:avLst/>
          </a:prstGeom>
          <a:solidFill>
            <a:srgbClr val="D8D0C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530352"/>
            <a:ext cx="68580" cy="566928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42416" y="457200"/>
            <a:ext cx="56692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50" b="1" spc="160">
                <a:solidFill>
                  <a:srgbClr val="A3272C"/>
                </a:solidFill>
                <a:latin typeface="微软雅黑"/>
              </a:rPr>
              <a:t>07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664208" y="457200"/>
            <a:ext cx="69494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50" b="1" spc="180">
                <a:solidFill>
                  <a:srgbClr val="A3272C"/>
                </a:solidFill>
                <a:latin typeface="微软雅黑"/>
              </a:rPr>
              <a:t>二、作品设计</a:t>
            </a:r>
          </a:p>
        </p:txBody>
      </p:sp>
      <p:pic>
        <p:nvPicPr>
          <p:cNvPr id="7" name="Picture 6" descr="d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2416" y="786384"/>
            <a:ext cx="4823883" cy="33655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22960" y="1837943"/>
            <a:ext cx="4681728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95000"/>
              </a:lnSpc>
            </a:pPr>
            <a:r>
              <a:rPr sz="1300" b="0">
                <a:solidFill>
                  <a:srgbClr val="5A5147"/>
                </a:solidFill>
                <a:latin typeface="微软雅黑"/>
              </a:rPr>
              <a:t>每条发言带一个可见性标记（public 或某个人）。</a:t>
            </a:r>
          </a:p>
          <a:p>
            <a:pPr algn="l">
              <a:lnSpc>
                <a:spcPct val="195000"/>
              </a:lnSpc>
            </a:pPr>
            <a:r>
              <a:rPr sz="1300" b="0">
                <a:solidFill>
                  <a:srgbClr val="5A5147"/>
                </a:solidFill>
                <a:latin typeface="微软雅黑"/>
              </a:rPr>
              <a:t>生成每位发言者的回复时，只投喂他有权读到的那部分历史——</a:t>
            </a:r>
          </a:p>
          <a:p>
            <a:pPr algn="l">
              <a:lnSpc>
                <a:spcPct val="195000"/>
              </a:lnSpc>
            </a:pPr>
            <a:r>
              <a:rPr sz="1300" b="0">
                <a:solidFill>
                  <a:srgbClr val="5A5147"/>
                </a:solidFill>
                <a:latin typeface="微软雅黑"/>
              </a:rPr>
              <a:t>不是前端隐藏，是根本没有进入他的上下文。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3977639"/>
            <a:ext cx="50292" cy="960120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42416" y="4032504"/>
            <a:ext cx="44348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70000"/>
              </a:lnSpc>
            </a:pPr>
            <a:r>
              <a:rPr sz="1200" b="0">
                <a:solidFill>
                  <a:srgbClr val="17120D"/>
                </a:solidFill>
                <a:latin typeface="微软雅黑"/>
              </a:rPr>
              <a:t>结果：同一张桌子上，三个人拿着三份不同的信息。</a:t>
            </a:r>
          </a:p>
        </p:txBody>
      </p:sp>
      <p:pic>
        <p:nvPicPr>
          <p:cNvPr id="11" name="Picture 10" descr="v4shot_05-悄悄话消息-仅一人可见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08192" y="2370379"/>
            <a:ext cx="5257800" cy="261101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108192" y="5072836"/>
            <a:ext cx="52578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950" b="0">
                <a:solidFill>
                  <a:srgbClr val="9A9388"/>
                </a:solidFill>
                <a:latin typeface="微软雅黑"/>
              </a:rPr>
              <a:t>这条消息只有一个人看得到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6419088"/>
            <a:ext cx="54864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950" b="0">
                <a:solidFill>
                  <a:srgbClr val="9A9388"/>
                </a:solidFill>
                <a:latin typeface="微软雅黑"/>
              </a:rPr>
              <a:t>门外谈 · 作品编号 375993 · https://outgate.chat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268712" y="6419088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50000"/>
              </a:lnSpc>
            </a:pPr>
            <a:r>
              <a:rPr sz="1000" b="1">
                <a:solidFill>
                  <a:srgbClr val="9A9388"/>
                </a:solidFill>
                <a:latin typeface="微软雅黑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1481328"/>
            <a:ext cx="10543032" cy="9525"/>
          </a:xfrm>
          <a:prstGeom prst="rect">
            <a:avLst/>
          </a:prstGeom>
          <a:solidFill>
            <a:srgbClr val="D8D0C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530352"/>
            <a:ext cx="68580" cy="566928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42416" y="457200"/>
            <a:ext cx="56692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50" b="1" spc="160">
                <a:solidFill>
                  <a:srgbClr val="A3272C"/>
                </a:solidFill>
                <a:latin typeface="微软雅黑"/>
              </a:rPr>
              <a:t>08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664208" y="457200"/>
            <a:ext cx="69494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50" b="1" spc="180">
                <a:solidFill>
                  <a:srgbClr val="A3272C"/>
                </a:solidFill>
                <a:latin typeface="微软雅黑"/>
              </a:rPr>
              <a:t>二、作品设计</a:t>
            </a:r>
          </a:p>
        </p:txBody>
      </p:sp>
      <p:pic>
        <p:nvPicPr>
          <p:cNvPr id="7" name="Picture 6" descr="d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2416" y="786384"/>
            <a:ext cx="4543425" cy="33655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22960" y="1837943"/>
            <a:ext cx="4681728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95000"/>
              </a:lnSpc>
            </a:pPr>
            <a:r>
              <a:rPr sz="1300" b="0">
                <a:solidFill>
                  <a:srgbClr val="5A5147"/>
                </a:solidFill>
                <a:latin typeface="微软雅黑"/>
              </a:rPr>
              <a:t>点「私下说」，选一个人。说出的话只有他看得到。</a:t>
            </a:r>
          </a:p>
          <a:p>
            <a:pPr algn="l">
              <a:lnSpc>
                <a:spcPct val="195000"/>
              </a:lnSpc>
            </a:pPr>
            <a:r>
              <a:rPr sz="1300" b="0">
                <a:solidFill>
                  <a:srgbClr val="5A5147"/>
                </a:solidFill>
                <a:latin typeface="微软雅黑"/>
              </a:rPr>
              <a:t>选定后按钮变红并显示对方名字，上方出现状态栏提醒你正在对谁低语。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3977639"/>
            <a:ext cx="50292" cy="960120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42416" y="4032504"/>
            <a:ext cx="44348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70000"/>
              </a:lnSpc>
            </a:pPr>
            <a:r>
              <a:rPr sz="1200" b="0">
                <a:solidFill>
                  <a:srgbClr val="17120D"/>
                </a:solidFill>
                <a:latin typeface="微软雅黑"/>
              </a:rPr>
              <a:t>悄悄话原文不写日志，也不参与联网检索——否则会被搜成场外情报。</a:t>
            </a:r>
          </a:p>
        </p:txBody>
      </p:sp>
      <p:pic>
        <p:nvPicPr>
          <p:cNvPr id="11" name="Picture 10" descr="07-悄悄话入口与人选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08192" y="2077586"/>
            <a:ext cx="5257800" cy="319660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108192" y="5365629"/>
            <a:ext cx="52578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950" b="0">
                <a:solidFill>
                  <a:srgbClr val="9A9388"/>
                </a:solidFill>
                <a:latin typeface="微软雅黑"/>
              </a:rPr>
              <a:t>点开「私下说」→ 选人 → 按钮变红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6419088"/>
            <a:ext cx="54864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950" b="0">
                <a:solidFill>
                  <a:srgbClr val="9A9388"/>
                </a:solidFill>
                <a:latin typeface="微软雅黑"/>
              </a:rPr>
              <a:t>门外谈 · 作品编号 375993 · https://outgate.chat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268712" y="6419088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50000"/>
              </a:lnSpc>
            </a:pPr>
            <a:r>
              <a:rPr sz="1000" b="1">
                <a:solidFill>
                  <a:srgbClr val="9A9388"/>
                </a:solidFill>
                <a:latin typeface="微软雅黑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1481328"/>
            <a:ext cx="10543032" cy="9525"/>
          </a:xfrm>
          <a:prstGeom prst="rect">
            <a:avLst/>
          </a:prstGeom>
          <a:solidFill>
            <a:srgbClr val="D8D0C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530352"/>
            <a:ext cx="68580" cy="566928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42416" y="457200"/>
            <a:ext cx="56692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50" b="1" spc="160">
                <a:solidFill>
                  <a:srgbClr val="A3272C"/>
                </a:solidFill>
                <a:latin typeface="微软雅黑"/>
              </a:rPr>
              <a:t>09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664208" y="457200"/>
            <a:ext cx="69494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50" b="1" spc="180">
                <a:solidFill>
                  <a:srgbClr val="A3272C"/>
                </a:solidFill>
                <a:latin typeface="微软雅黑"/>
              </a:rPr>
              <a:t>二、作品设计</a:t>
            </a:r>
          </a:p>
        </p:txBody>
      </p:sp>
      <p:pic>
        <p:nvPicPr>
          <p:cNvPr id="7" name="Picture 6" descr="d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2416" y="786384"/>
            <a:ext cx="5381500" cy="33655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22960" y="1837943"/>
            <a:ext cx="4681728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95000"/>
              </a:lnSpc>
            </a:pPr>
            <a:r>
              <a:rPr sz="1300" b="0">
                <a:solidFill>
                  <a:srgbClr val="5A5147"/>
                </a:solidFill>
                <a:latin typeface="微软雅黑"/>
              </a:rPr>
              <a:t>被私下告知的人，往往会在下一轮把这句公开带出来，当众点名对方。</a:t>
            </a:r>
          </a:p>
          <a:p>
            <a:pPr algn="l">
              <a:lnSpc>
                <a:spcPct val="195000"/>
              </a:lnSpc>
            </a:pPr>
            <a:r>
              <a:rPr sz="1300" b="0">
                <a:solidFill>
                  <a:srgbClr val="5A5147"/>
                </a:solidFill>
                <a:latin typeface="微软雅黑"/>
              </a:rPr>
              <a:t>被点名的人不知道情报从哪来，只能正面接。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3977639"/>
            <a:ext cx="50292" cy="960120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42416" y="4032504"/>
            <a:ext cx="44348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70000"/>
              </a:lnSpc>
            </a:pPr>
            <a:r>
              <a:rPr sz="1200" b="0">
                <a:solidFill>
                  <a:srgbClr val="17120D"/>
                </a:solidFill>
                <a:latin typeface="微软雅黑"/>
              </a:rPr>
              <a:t>被点名者被要求不得用「我同意」开场——讨论从轮流发言变成有暗流的博弈。</a:t>
            </a:r>
          </a:p>
        </p:txBody>
      </p:sp>
      <p:pic>
        <p:nvPicPr>
          <p:cNvPr id="11" name="Picture 10" descr="v4shot_06-点名对质-当众摊牌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08192" y="2102124"/>
            <a:ext cx="5257800" cy="314752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108192" y="5341091"/>
            <a:ext cx="52578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950" b="0">
                <a:solidFill>
                  <a:srgbClr val="9A9388"/>
                </a:solidFill>
                <a:latin typeface="微软雅黑"/>
              </a:rPr>
              <a:t>鲁迅当众点名乔布斯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6419088"/>
            <a:ext cx="54864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950" b="0">
                <a:solidFill>
                  <a:srgbClr val="9A9388"/>
                </a:solidFill>
                <a:latin typeface="微软雅黑"/>
              </a:rPr>
              <a:t>门外谈 · 作品编号 375993 · https://outgate.chat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268712" y="6419088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50000"/>
              </a:lnSpc>
            </a:pPr>
            <a:r>
              <a:rPr sz="1000" b="1">
                <a:solidFill>
                  <a:srgbClr val="9A9388"/>
                </a:solidFill>
                <a:latin typeface="微软雅黑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1481328"/>
            <a:ext cx="10543032" cy="9525"/>
          </a:xfrm>
          <a:prstGeom prst="rect">
            <a:avLst/>
          </a:prstGeom>
          <a:solidFill>
            <a:srgbClr val="D8D0C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530352"/>
            <a:ext cx="68580" cy="566928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42416" y="457200"/>
            <a:ext cx="56692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50" b="1" spc="160">
                <a:solidFill>
                  <a:srgbClr val="A3272C"/>
                </a:solidFill>
                <a:latin typeface="微软雅黑"/>
              </a:rPr>
              <a:t>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664208" y="457200"/>
            <a:ext cx="69494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50" b="1" spc="180">
                <a:solidFill>
                  <a:srgbClr val="A3272C"/>
                </a:solidFill>
                <a:latin typeface="微软雅黑"/>
              </a:rPr>
              <a:t>二、作品设计</a:t>
            </a:r>
          </a:p>
        </p:txBody>
      </p:sp>
      <p:pic>
        <p:nvPicPr>
          <p:cNvPr id="7" name="Picture 6" descr="d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2416" y="786384"/>
            <a:ext cx="4315170" cy="33655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22960" y="1837943"/>
            <a:ext cx="4681728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95000"/>
              </a:lnSpc>
            </a:pPr>
            <a:r>
              <a:rPr sz="1300" b="0">
                <a:solidFill>
                  <a:srgbClr val="5A5147"/>
                </a:solidFill>
                <a:latin typeface="微软雅黑"/>
              </a:rPr>
              <a:t>每一轮用字符 2-gram 重叠率估算这一轮说出了多少新东西。</a:t>
            </a:r>
          </a:p>
          <a:p>
            <a:pPr algn="l">
              <a:lnSpc>
                <a:spcPct val="195000"/>
              </a:lnSpc>
            </a:pPr>
            <a:r>
              <a:rPr sz="1300" b="0">
                <a:solidFill>
                  <a:srgbClr val="5A5147"/>
                </a:solidFill>
                <a:latin typeface="微软雅黑"/>
              </a:rPr>
              <a:t>判定趋同，先强制每位发言者提一个反对意见；仍无新意，主持人亲自出面拆穿。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3977639"/>
            <a:ext cx="50292" cy="960120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42416" y="4032504"/>
            <a:ext cx="44348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70000"/>
              </a:lnSpc>
            </a:pPr>
            <a:r>
              <a:rPr sz="1200" b="0">
                <a:solidFill>
                  <a:srgbClr val="17120D"/>
                </a:solidFill>
                <a:latin typeface="微软雅黑"/>
              </a:rPr>
              <a:t>这个数字不展示给用户看——只在他们真的开始互相附和时，变成一条系统按语。</a:t>
            </a:r>
          </a:p>
        </p:txBody>
      </p:sp>
      <p:pic>
        <p:nvPicPr>
          <p:cNvPr id="11" name="Picture 10" descr="v4shot_03-主持人收尾-拆穿伪共识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08192" y="2260326"/>
            <a:ext cx="5257800" cy="2831123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108192" y="5182889"/>
            <a:ext cx="52578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950" b="0">
                <a:solidFill>
                  <a:srgbClr val="9A9388"/>
                </a:solidFill>
                <a:latin typeface="微软雅黑"/>
              </a:rPr>
              <a:t>系统按语 + 主持人收尾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6419088"/>
            <a:ext cx="54864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950" b="0">
                <a:solidFill>
                  <a:srgbClr val="9A9388"/>
                </a:solidFill>
                <a:latin typeface="微软雅黑"/>
              </a:rPr>
              <a:t>门外谈 · 作品编号 375993 · https://outgate.chat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268712" y="6419088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50000"/>
              </a:lnSpc>
            </a:pPr>
            <a:r>
              <a:rPr sz="1000" b="1">
                <a:solidFill>
                  <a:srgbClr val="9A9388"/>
                </a:solidFill>
                <a:latin typeface="微软雅黑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1481328"/>
            <a:ext cx="10543032" cy="9525"/>
          </a:xfrm>
          <a:prstGeom prst="rect">
            <a:avLst/>
          </a:prstGeom>
          <a:solidFill>
            <a:srgbClr val="D8D0C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530352"/>
            <a:ext cx="68580" cy="566928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42416" y="457200"/>
            <a:ext cx="56692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50" b="1" spc="160">
                <a:solidFill>
                  <a:srgbClr val="A3272C"/>
                </a:solidFill>
                <a:latin typeface="微软雅黑"/>
              </a:rPr>
              <a:t>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664208" y="457200"/>
            <a:ext cx="69494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50" b="1" spc="180">
                <a:solidFill>
                  <a:srgbClr val="A3272C"/>
                </a:solidFill>
                <a:latin typeface="微软雅黑"/>
              </a:rPr>
              <a:t>三、系统实现</a:t>
            </a:r>
          </a:p>
        </p:txBody>
      </p:sp>
      <p:pic>
        <p:nvPicPr>
          <p:cNvPr id="7" name="Picture 6" descr="d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2416" y="786384"/>
            <a:ext cx="3956842" cy="363474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22960" y="1892807"/>
            <a:ext cx="960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1" spc="160">
                <a:solidFill>
                  <a:srgbClr val="9A9388"/>
                </a:solidFill>
                <a:latin typeface="微软雅黑"/>
              </a:rPr>
              <a:t>客户端</a:t>
            </a:r>
          </a:p>
        </p:txBody>
      </p:sp>
      <p:sp>
        <p:nvSpPr>
          <p:cNvPr id="9" name="Rectangle 8"/>
          <p:cNvSpPr/>
          <p:nvPr/>
        </p:nvSpPr>
        <p:spPr>
          <a:xfrm>
            <a:off x="1901952" y="1764792"/>
            <a:ext cx="4668012" cy="548640"/>
          </a:xfrm>
          <a:prstGeom prst="rect">
            <a:avLst/>
          </a:prstGeom>
          <a:solidFill>
            <a:srgbClr val="F9F5EA"/>
          </a:solidFill>
          <a:ln w="12700">
            <a:solidFill>
              <a:srgbClr val="D8D0C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029968" y="1892807"/>
            <a:ext cx="44302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50" b="0" spc="30">
                <a:solidFill>
                  <a:srgbClr val="17120D"/>
                </a:solidFill>
                <a:latin typeface="微软雅黑"/>
              </a:rPr>
              <a:t>浏览器 Web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697979" y="1764792"/>
            <a:ext cx="4668012" cy="548640"/>
          </a:xfrm>
          <a:prstGeom prst="rect">
            <a:avLst/>
          </a:prstGeom>
          <a:solidFill>
            <a:srgbClr val="F9F5EA"/>
          </a:solidFill>
          <a:ln w="12700">
            <a:solidFill>
              <a:srgbClr val="D8D0C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25995" y="1892807"/>
            <a:ext cx="44302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50" b="0" spc="30">
                <a:solidFill>
                  <a:srgbClr val="17120D"/>
                </a:solidFill>
                <a:latin typeface="微软雅黑"/>
              </a:rPr>
              <a:t>移动端 Web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2578608"/>
            <a:ext cx="960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1" spc="160">
                <a:solidFill>
                  <a:srgbClr val="9A9388"/>
                </a:solidFill>
                <a:latin typeface="微软雅黑"/>
              </a:rPr>
              <a:t>前端层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901952" y="2450591"/>
            <a:ext cx="4668012" cy="548640"/>
          </a:xfrm>
          <a:prstGeom prst="rect">
            <a:avLst/>
          </a:prstGeom>
          <a:solidFill>
            <a:srgbClr val="F9F5EA"/>
          </a:solidFill>
          <a:ln w="12700">
            <a:solidFill>
              <a:srgbClr val="D8D0C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029968" y="2578608"/>
            <a:ext cx="44302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50" b="0" spc="30">
                <a:solidFill>
                  <a:srgbClr val="17120D"/>
                </a:solidFill>
                <a:latin typeface="微软雅黑"/>
              </a:rPr>
              <a:t>app/page.tsx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697979" y="2450591"/>
            <a:ext cx="4668012" cy="548640"/>
          </a:xfrm>
          <a:prstGeom prst="rect">
            <a:avLst/>
          </a:prstGeom>
          <a:solidFill>
            <a:srgbClr val="F9F5EA"/>
          </a:solidFill>
          <a:ln w="12700">
            <a:solidFill>
              <a:srgbClr val="D8D0C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25995" y="2578608"/>
            <a:ext cx="44302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50" b="0" spc="30">
                <a:solidFill>
                  <a:srgbClr val="17120D"/>
                </a:solidFill>
                <a:latin typeface="微软雅黑"/>
              </a:rPr>
              <a:t>Next.js App Router · SSE 流式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3264408"/>
            <a:ext cx="960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1" spc="160">
                <a:solidFill>
                  <a:srgbClr val="9A9388"/>
                </a:solidFill>
                <a:latin typeface="微软雅黑"/>
              </a:rPr>
              <a:t>接口层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901952" y="3136391"/>
            <a:ext cx="3069336" cy="548640"/>
          </a:xfrm>
          <a:prstGeom prst="rect">
            <a:avLst/>
          </a:prstGeom>
          <a:solidFill>
            <a:srgbClr val="F9F5EA"/>
          </a:solidFill>
          <a:ln w="12700">
            <a:solidFill>
              <a:srgbClr val="D8D0C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029968" y="3264408"/>
            <a:ext cx="283159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50" b="0" spc="30">
                <a:solidFill>
                  <a:srgbClr val="17120D"/>
                </a:solidFill>
                <a:latin typeface="微软雅黑"/>
              </a:rPr>
              <a:t>POST /api/chat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99304" y="3136391"/>
            <a:ext cx="3069336" cy="548640"/>
          </a:xfrm>
          <a:prstGeom prst="rect">
            <a:avLst/>
          </a:prstGeom>
          <a:solidFill>
            <a:srgbClr val="F9F5EA"/>
          </a:solidFill>
          <a:ln w="12700">
            <a:solidFill>
              <a:srgbClr val="D8D0C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227320" y="3264408"/>
            <a:ext cx="283159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50" b="0" spc="30">
                <a:solidFill>
                  <a:srgbClr val="17120D"/>
                </a:solidFill>
                <a:latin typeface="微软雅黑"/>
              </a:rPr>
              <a:t>GET /api/characters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96656" y="3136391"/>
            <a:ext cx="3069336" cy="548640"/>
          </a:xfrm>
          <a:prstGeom prst="rect">
            <a:avLst/>
          </a:prstGeom>
          <a:solidFill>
            <a:srgbClr val="F9F5EA"/>
          </a:solidFill>
          <a:ln w="12700">
            <a:solidFill>
              <a:srgbClr val="D8D0C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424672" y="3264408"/>
            <a:ext cx="283159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50" b="0" spc="30">
                <a:solidFill>
                  <a:srgbClr val="17120D"/>
                </a:solidFill>
                <a:latin typeface="微软雅黑"/>
              </a:rPr>
              <a:t>POST /api/import-skill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2960" y="3950207"/>
            <a:ext cx="960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1" spc="160">
                <a:solidFill>
                  <a:srgbClr val="A3272C"/>
                </a:solidFill>
                <a:latin typeface="微软雅黑"/>
              </a:rPr>
              <a:t>核心层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901952" y="3822191"/>
            <a:ext cx="9464040" cy="548640"/>
          </a:xfrm>
          <a:prstGeom prst="rect">
            <a:avLst/>
          </a:prstGeom>
          <a:solidFill>
            <a:srgbClr val="F9F5EA"/>
          </a:solidFill>
          <a:ln w="12700">
            <a:solidFill>
              <a:srgbClr val="A3272C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048256" y="3950207"/>
            <a:ext cx="918971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1" spc="40">
                <a:solidFill>
                  <a:srgbClr val="A3272C"/>
                </a:solidFill>
                <a:latin typeface="微软雅黑"/>
              </a:rPr>
              <a:t>圆桌调度器  →  可见性过滤器  →  模型调用  →  输出装配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2960" y="4636007"/>
            <a:ext cx="960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1" spc="160">
                <a:solidFill>
                  <a:srgbClr val="9A9388"/>
                </a:solidFill>
                <a:latin typeface="微软雅黑"/>
              </a:rPr>
              <a:t>模型层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901952" y="4507992"/>
            <a:ext cx="4668012" cy="548640"/>
          </a:xfrm>
          <a:prstGeom prst="rect">
            <a:avLst/>
          </a:prstGeom>
          <a:solidFill>
            <a:srgbClr val="F9F5EA"/>
          </a:solidFill>
          <a:ln w="12700">
            <a:solidFill>
              <a:srgbClr val="D8D0C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2029968" y="4636007"/>
            <a:ext cx="44302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50" b="0" spc="30">
                <a:solidFill>
                  <a:srgbClr val="17120D"/>
                </a:solidFill>
                <a:latin typeface="微软雅黑"/>
              </a:rPr>
              <a:t>智谱 GLM-4-Flash（默认）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697979" y="4507992"/>
            <a:ext cx="4668012" cy="548640"/>
          </a:xfrm>
          <a:prstGeom prst="rect">
            <a:avLst/>
          </a:prstGeom>
          <a:solidFill>
            <a:srgbClr val="F9F5EA"/>
          </a:solidFill>
          <a:ln w="12700">
            <a:solidFill>
              <a:srgbClr val="D8D0C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825995" y="4636007"/>
            <a:ext cx="44302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50" b="0" spc="30">
                <a:solidFill>
                  <a:srgbClr val="17120D"/>
                </a:solidFill>
                <a:latin typeface="微软雅黑"/>
              </a:rPr>
              <a:t>BYOK · 任意 OpenAI 兼容接口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2960" y="5321807"/>
            <a:ext cx="960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1" spc="160">
                <a:solidFill>
                  <a:srgbClr val="9A9388"/>
                </a:solidFill>
                <a:latin typeface="微软雅黑"/>
              </a:rPr>
              <a:t>部署层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901952" y="5193792"/>
            <a:ext cx="4668012" cy="548640"/>
          </a:xfrm>
          <a:prstGeom prst="rect">
            <a:avLst/>
          </a:prstGeom>
          <a:solidFill>
            <a:srgbClr val="F9F5EA"/>
          </a:solidFill>
          <a:ln w="12700">
            <a:solidFill>
              <a:srgbClr val="D8D0C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029968" y="5321807"/>
            <a:ext cx="44302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50" b="0" spc="30">
                <a:solidFill>
                  <a:srgbClr val="17120D"/>
                </a:solidFill>
                <a:latin typeface="微软雅黑"/>
              </a:rPr>
              <a:t>阿里云香港 · podman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697979" y="5193792"/>
            <a:ext cx="4668012" cy="548640"/>
          </a:xfrm>
          <a:prstGeom prst="rect">
            <a:avLst/>
          </a:prstGeom>
          <a:solidFill>
            <a:srgbClr val="F9F5EA"/>
          </a:solidFill>
          <a:ln w="12700">
            <a:solidFill>
              <a:srgbClr val="D8D0C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825995" y="5321807"/>
            <a:ext cx="44302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50" b="0" spc="30">
                <a:solidFill>
                  <a:srgbClr val="17120D"/>
                </a:solidFill>
                <a:latin typeface="微软雅黑"/>
              </a:rPr>
              <a:t>nginx 反代 · HTTPS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22960" y="6053328"/>
            <a:ext cx="105430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0">
                <a:solidFill>
                  <a:srgbClr val="9A9388"/>
                </a:solidFill>
                <a:latin typeface="微软雅黑"/>
              </a:rPr>
              <a:t>每条发言带「public / 仅某人可见」标记；组装 prompt 之前按可见性裁剪历史。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22960" y="6419088"/>
            <a:ext cx="54864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950" b="0">
                <a:solidFill>
                  <a:srgbClr val="9A9388"/>
                </a:solidFill>
                <a:latin typeface="微软雅黑"/>
              </a:rPr>
              <a:t>门外谈 · 作品编号 375993 · https://outgate.chat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268712" y="6419088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50000"/>
              </a:lnSpc>
            </a:pPr>
            <a:r>
              <a:rPr sz="1000" b="1">
                <a:solidFill>
                  <a:srgbClr val="9A9388"/>
                </a:solidFill>
                <a:latin typeface="微软雅黑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1481328"/>
            <a:ext cx="10543032" cy="9525"/>
          </a:xfrm>
          <a:prstGeom prst="rect">
            <a:avLst/>
          </a:prstGeom>
          <a:solidFill>
            <a:srgbClr val="D8D0C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530352"/>
            <a:ext cx="68580" cy="566928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42416" y="457200"/>
            <a:ext cx="56692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50" b="1" spc="160">
                <a:solidFill>
                  <a:srgbClr val="A3272C"/>
                </a:solidFill>
                <a:latin typeface="微软雅黑"/>
              </a:rPr>
              <a:t>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664208" y="457200"/>
            <a:ext cx="69494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50" b="1" spc="180">
                <a:solidFill>
                  <a:srgbClr val="A3272C"/>
                </a:solidFill>
                <a:latin typeface="微软雅黑"/>
              </a:rPr>
              <a:t>四、验证与效果</a:t>
            </a:r>
          </a:p>
        </p:txBody>
      </p:sp>
      <p:pic>
        <p:nvPicPr>
          <p:cNvPr id="7" name="Picture 6" descr="d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2416" y="786384"/>
            <a:ext cx="4162806" cy="363474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22960" y="1837943"/>
            <a:ext cx="4754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50" b="1" spc="200">
                <a:solidFill>
                  <a:srgbClr val="9A9388"/>
                </a:solidFill>
                <a:latin typeface="微软雅黑"/>
              </a:rPr>
              <a:t>v1 · 没有信息层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2167128"/>
            <a:ext cx="4754880" cy="9525"/>
          </a:xfrm>
          <a:prstGeom prst="rect">
            <a:avLst/>
          </a:prstGeom>
          <a:solidFill>
            <a:srgbClr val="D8D0C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2313432"/>
            <a:ext cx="4754880" cy="2651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85000"/>
              </a:lnSpc>
            </a:pPr>
            <a:r>
              <a:rPr sz="1250" b="0">
                <a:solidFill>
                  <a:srgbClr val="5A5147"/>
                </a:solidFill>
                <a:latin typeface="微软雅黑"/>
              </a:rPr>
              <a:t>鲁迅：学外语的意义，绝不仅仅在于翻译与写作……</a:t>
            </a:r>
          </a:p>
          <a:p>
            <a:pPr algn="l">
              <a:lnSpc>
                <a:spcPct val="185000"/>
              </a:lnSpc>
            </a:pPr>
            <a:r>
              <a:rPr sz="1250" b="0">
                <a:solidFill>
                  <a:srgbClr val="5A5147"/>
                </a:solidFill>
                <a:latin typeface="微软雅黑"/>
              </a:rPr>
              <a:t/>
            </a:r>
          </a:p>
          <a:p>
            <a:pPr algn="l">
              <a:lnSpc>
                <a:spcPct val="185000"/>
              </a:lnSpc>
            </a:pPr>
            <a:r>
              <a:rPr sz="1250" b="0">
                <a:solidFill>
                  <a:srgbClr val="5A5147"/>
                </a:solidFill>
                <a:latin typeface="微软雅黑"/>
              </a:rPr>
              <a:t>乔布斯：我同意鲁迅的观点。</a:t>
            </a:r>
          </a:p>
          <a:p>
            <a:pPr algn="l">
              <a:lnSpc>
                <a:spcPct val="185000"/>
              </a:lnSpc>
            </a:pPr>
            <a:r>
              <a:rPr sz="1250" b="0">
                <a:solidFill>
                  <a:srgbClr val="5A5147"/>
                </a:solidFill>
                <a:latin typeface="微软雅黑"/>
              </a:rPr>
              <a:t/>
            </a:r>
          </a:p>
          <a:p>
            <a:pPr algn="l">
              <a:lnSpc>
                <a:spcPct val="185000"/>
              </a:lnSpc>
            </a:pPr>
            <a:r>
              <a:rPr sz="1250" b="0">
                <a:solidFill>
                  <a:srgbClr val="5A5147"/>
                </a:solidFill>
                <a:latin typeface="微软雅黑"/>
              </a:rPr>
              <a:t>→ 两个立场最互斥的人，第一轮就合流。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897880" y="1828800"/>
            <a:ext cx="10972" cy="3566160"/>
          </a:xfrm>
          <a:prstGeom prst="rect">
            <a:avLst/>
          </a:prstGeom>
          <a:solidFill>
            <a:srgbClr val="D8D0C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63640" y="1837943"/>
            <a:ext cx="4754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50" b="1" spc="200">
                <a:solidFill>
                  <a:srgbClr val="A3272C"/>
                </a:solidFill>
                <a:latin typeface="微软雅黑"/>
              </a:rPr>
              <a:t>v2 · 有信息层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63640" y="2167128"/>
            <a:ext cx="4754880" cy="19050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63640" y="2313432"/>
            <a:ext cx="4754880" cy="2651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85000"/>
              </a:lnSpc>
            </a:pPr>
            <a:r>
              <a:rPr sz="1250" b="0">
                <a:solidFill>
                  <a:srgbClr val="17120D"/>
                </a:solidFill>
                <a:latin typeface="微软雅黑"/>
              </a:rPr>
              <a:t>鲁迅（收到悄悄话）：乔布斯那套「追随内心」，我怀疑是幸存者偏差——</a:t>
            </a:r>
          </a:p>
          <a:p>
            <a:pPr algn="l">
              <a:lnSpc>
                <a:spcPct val="185000"/>
              </a:lnSpc>
            </a:pPr>
            <a:r>
              <a:rPr sz="1250" b="0">
                <a:solidFill>
                  <a:srgbClr val="17120D"/>
                </a:solidFill>
                <a:latin typeface="微软雅黑"/>
              </a:rPr>
              <a:t/>
            </a:r>
          </a:p>
          <a:p>
            <a:pPr algn="l">
              <a:lnSpc>
                <a:spcPct val="185000"/>
              </a:lnSpc>
            </a:pPr>
            <a:r>
              <a:rPr sz="1250" b="0">
                <a:solidFill>
                  <a:srgbClr val="17120D"/>
                </a:solidFill>
                <a:latin typeface="微软雅黑"/>
              </a:rPr>
              <a:t>乔布斯（被点名）：你说得对，我不是一个人做成的。</a:t>
            </a:r>
          </a:p>
          <a:p>
            <a:pPr algn="l">
              <a:lnSpc>
                <a:spcPct val="185000"/>
              </a:lnSpc>
            </a:pPr>
            <a:r>
              <a:rPr sz="1250" b="0">
                <a:solidFill>
                  <a:srgbClr val="17120D"/>
                </a:solidFill>
                <a:latin typeface="微软雅黑"/>
              </a:rPr>
              <a:t/>
            </a:r>
          </a:p>
          <a:p>
            <a:pPr algn="l">
              <a:lnSpc>
                <a:spcPct val="185000"/>
              </a:lnSpc>
            </a:pPr>
            <a:r>
              <a:rPr sz="1250" b="0">
                <a:solidFill>
                  <a:srgbClr val="17120D"/>
                </a:solidFill>
                <a:latin typeface="微软雅黑"/>
              </a:rPr>
              <a:t>→ 桌上有人揣着话，有人被点了名。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2960" y="5138928"/>
            <a:ext cx="10543032" cy="9525"/>
          </a:xfrm>
          <a:prstGeom prst="rect">
            <a:avLst/>
          </a:prstGeom>
          <a:solidFill>
            <a:srgbClr val="D8D0C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" y="5212080"/>
            <a:ext cx="1054303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1">
                <a:solidFill>
                  <a:srgbClr val="17120D"/>
                </a:solidFill>
                <a:latin typeface="微软雅黑"/>
              </a:rPr>
              <a:t>差别不在人格写得多像，在于这几个人掌握的信息不再相同。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5705856"/>
            <a:ext cx="47548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A3272C"/>
                </a:solidFill>
                <a:latin typeface="宋体"/>
              </a:rPr>
              <a:t>9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16736" y="5742432"/>
            <a:ext cx="294741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1" spc="100">
                <a:solidFill>
                  <a:srgbClr val="17120D"/>
                </a:solidFill>
                <a:latin typeface="微软雅黑"/>
              </a:rPr>
              <a:t>项机制测试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16736" y="5998464"/>
            <a:ext cx="294741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950" b="0">
                <a:solidFill>
                  <a:srgbClr val="9A9388"/>
                </a:solidFill>
                <a:latin typeface="微软雅黑"/>
              </a:rPr>
              <a:t>T1–T9 逐项实测，全部通过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37304" y="5705856"/>
            <a:ext cx="47548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A3272C"/>
                </a:solidFill>
                <a:latin typeface="宋体"/>
              </a:rPr>
              <a:t>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831080" y="5742432"/>
            <a:ext cx="294741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1" spc="100">
                <a:solidFill>
                  <a:srgbClr val="17120D"/>
                </a:solidFill>
                <a:latin typeface="微软雅黑"/>
              </a:rPr>
              <a:t>处泄漏已修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831080" y="5998464"/>
            <a:ext cx="294741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950" b="0">
                <a:solidFill>
                  <a:srgbClr val="9A9388"/>
                </a:solidFill>
                <a:latin typeface="微软雅黑"/>
              </a:rPr>
              <a:t>悄悄话串进检索、写入日志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851647" y="5705856"/>
            <a:ext cx="47548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A3272C"/>
                </a:solidFill>
                <a:latin typeface="宋体"/>
              </a:rPr>
              <a:t>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45423" y="5742432"/>
            <a:ext cx="294741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1" spc="100">
                <a:solidFill>
                  <a:srgbClr val="17120D"/>
                </a:solidFill>
                <a:latin typeface="微软雅黑"/>
              </a:rPr>
              <a:t>个关键回归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45423" y="5998464"/>
            <a:ext cx="294741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950" b="0">
                <a:solidFill>
                  <a:srgbClr val="9A9388"/>
                </a:solidFill>
                <a:latin typeface="微软雅黑"/>
              </a:rPr>
              <a:t>摊牌真的触发，不是摆样子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60" y="6419088"/>
            <a:ext cx="54864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950" b="0">
                <a:solidFill>
                  <a:srgbClr val="9A9388"/>
                </a:solidFill>
                <a:latin typeface="微软雅黑"/>
              </a:rPr>
              <a:t>门外谈 · 作品编号 375993 · https://outgate.chat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268712" y="6419088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50000"/>
              </a:lnSpc>
            </a:pPr>
            <a:r>
              <a:rPr sz="1000" b="1">
                <a:solidFill>
                  <a:srgbClr val="9A9388"/>
                </a:solidFill>
                <a:latin typeface="微软雅黑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1481328"/>
            <a:ext cx="10543032" cy="9525"/>
          </a:xfrm>
          <a:prstGeom prst="rect">
            <a:avLst/>
          </a:prstGeom>
          <a:solidFill>
            <a:srgbClr val="D8D0C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530352"/>
            <a:ext cx="68580" cy="566928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42416" y="457200"/>
            <a:ext cx="56692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50" b="1" spc="160">
                <a:solidFill>
                  <a:srgbClr val="A3272C"/>
                </a:solidFill>
                <a:latin typeface="微软雅黑"/>
              </a:rPr>
              <a:t>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664208" y="457200"/>
            <a:ext cx="69494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50" b="1" spc="180">
                <a:solidFill>
                  <a:srgbClr val="A3272C"/>
                </a:solidFill>
                <a:latin typeface="微软雅黑"/>
              </a:rPr>
              <a:t>五、创新与应用</a:t>
            </a:r>
          </a:p>
        </p:txBody>
      </p:sp>
      <p:pic>
        <p:nvPicPr>
          <p:cNvPr id="7" name="Picture 6" descr="d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2416" y="786384"/>
            <a:ext cx="1937416" cy="363474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822960" y="1892807"/>
            <a:ext cx="50292" cy="841248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0704" y="1856231"/>
            <a:ext cx="10058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050" b="1" spc="160">
                <a:solidFill>
                  <a:srgbClr val="A3272C"/>
                </a:solidFill>
                <a:latin typeface="微软雅黑"/>
              </a:rPr>
              <a:t>机制创新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148840" y="1810511"/>
            <a:ext cx="51206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600" b="1" spc="80">
                <a:solidFill>
                  <a:srgbClr val="17120D"/>
                </a:solidFill>
                <a:latin typeface="宋体"/>
              </a:rPr>
              <a:t>把「信息差」做成可操作的三步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48840" y="2221991"/>
            <a:ext cx="87782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70000"/>
              </a:lnSpc>
            </a:pPr>
            <a:r>
              <a:rPr sz="1150" b="0">
                <a:solidFill>
                  <a:srgbClr val="5A5147"/>
                </a:solidFill>
                <a:latin typeface="微软雅黑"/>
              </a:rPr>
              <a:t>可见性 → 悄悄话 → 点名对质。</a:t>
            </a:r>
          </a:p>
          <a:p>
            <a:pPr algn="l">
              <a:lnSpc>
                <a:spcPct val="170000"/>
              </a:lnSpc>
            </a:pPr>
            <a:r>
              <a:rPr sz="1150" b="0">
                <a:solidFill>
                  <a:srgbClr val="5A5147"/>
                </a:solidFill>
                <a:latin typeface="微软雅黑"/>
              </a:rPr>
              <a:t>不是让角色更凶，而是改变谁知道什么。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3209544"/>
            <a:ext cx="50292" cy="841248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60704" y="3172968"/>
            <a:ext cx="10058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050" b="1" spc="160">
                <a:solidFill>
                  <a:srgbClr val="A3272C"/>
                </a:solidFill>
                <a:latin typeface="微软雅黑"/>
              </a:rPr>
              <a:t>交互创新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148840" y="3127248"/>
            <a:ext cx="51206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600" b="1" spc="80">
                <a:solidFill>
                  <a:srgbClr val="17120D"/>
                </a:solidFill>
                <a:latin typeface="宋体"/>
              </a:rPr>
              <a:t>用户从提问者变成信息分配者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48840" y="3538727"/>
            <a:ext cx="87782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70000"/>
              </a:lnSpc>
            </a:pPr>
            <a:r>
              <a:rPr sz="1150" b="0">
                <a:solidFill>
                  <a:srgbClr val="5A5147"/>
                </a:solidFill>
                <a:latin typeface="微软雅黑"/>
              </a:rPr>
              <a:t>一次私下告知，就能改变整场讨论的走向。</a:t>
            </a:r>
          </a:p>
          <a:p>
            <a:pPr algn="l">
              <a:lnSpc>
                <a:spcPct val="170000"/>
              </a:lnSpc>
            </a:pPr>
            <a:r>
              <a:rPr sz="1150" b="0">
                <a:solidFill>
                  <a:srgbClr val="5A5147"/>
                </a:solidFill>
                <a:latin typeface="微软雅黑"/>
              </a:rPr>
              <a:t>用户做的事情，从「问问题」变成「决定谁掌握什么」。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" y="4526280"/>
            <a:ext cx="50292" cy="841248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60704" y="4489704"/>
            <a:ext cx="10058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050" b="1" spc="160">
                <a:solidFill>
                  <a:srgbClr val="A3272C"/>
                </a:solidFill>
                <a:latin typeface="微软雅黑"/>
              </a:rPr>
              <a:t>工程创新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148840" y="4443984"/>
            <a:ext cx="51206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600" b="1" spc="80">
                <a:solidFill>
                  <a:srgbClr val="17120D"/>
                </a:solidFill>
                <a:latin typeface="宋体"/>
              </a:rPr>
              <a:t>信息裁剪在服务端完成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48840" y="4855464"/>
            <a:ext cx="87782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70000"/>
              </a:lnSpc>
            </a:pPr>
            <a:r>
              <a:rPr sz="1150" b="0">
                <a:solidFill>
                  <a:srgbClr val="5A5147"/>
                </a:solidFill>
                <a:latin typeface="微软雅黑"/>
              </a:rPr>
              <a:t>按接收者裁剪上下文，不可见的内容根本不进 prompt；</a:t>
            </a:r>
          </a:p>
          <a:p>
            <a:pPr algn="l">
              <a:lnSpc>
                <a:spcPct val="170000"/>
              </a:lnSpc>
            </a:pPr>
            <a:r>
              <a:rPr sz="1150" b="0">
                <a:solidFill>
                  <a:srgbClr val="5A5147"/>
                </a:solidFill>
                <a:latin typeface="微软雅黑"/>
              </a:rPr>
              <a:t>悄悄话不写日志、不参与联网检索。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5888736"/>
            <a:ext cx="1054303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>
                <a:solidFill>
                  <a:srgbClr val="9A9388"/>
                </a:solidFill>
                <a:latin typeface="微软雅黑"/>
              </a:rPr>
              <a:t>三点合起来回答一个问题：为什么这些角色能吵起来，而不是互相附和。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" y="6419088"/>
            <a:ext cx="54864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950" b="0">
                <a:solidFill>
                  <a:srgbClr val="9A9388"/>
                </a:solidFill>
                <a:latin typeface="微软雅黑"/>
              </a:rPr>
              <a:t>门外谈 · 作品编号 375993 · https://outgate.chat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268712" y="6419088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50000"/>
              </a:lnSpc>
            </a:pPr>
            <a:r>
              <a:rPr sz="1000" b="1">
                <a:solidFill>
                  <a:srgbClr val="9A9388"/>
                </a:solidFill>
                <a:latin typeface="微软雅黑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1481328"/>
            <a:ext cx="10543032" cy="9525"/>
          </a:xfrm>
          <a:prstGeom prst="rect">
            <a:avLst/>
          </a:prstGeom>
          <a:solidFill>
            <a:srgbClr val="D8D0C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530352"/>
            <a:ext cx="68580" cy="566928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42416" y="457200"/>
            <a:ext cx="56692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50" b="1" spc="160">
                <a:solidFill>
                  <a:srgbClr val="A3272C"/>
                </a:solidFill>
                <a:latin typeface="微软雅黑"/>
              </a:rPr>
              <a:t>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664208" y="457200"/>
            <a:ext cx="69494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50" b="1" spc="180">
                <a:solidFill>
                  <a:srgbClr val="A3272C"/>
                </a:solidFill>
                <a:latin typeface="微软雅黑"/>
              </a:rPr>
              <a:t>五、创新与应用</a:t>
            </a:r>
          </a:p>
        </p:txBody>
      </p:sp>
      <p:pic>
        <p:nvPicPr>
          <p:cNvPr id="7" name="Picture 6" descr="d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2416" y="786384"/>
            <a:ext cx="6086537" cy="363474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822960" y="1874519"/>
            <a:ext cx="3361943" cy="1847088"/>
          </a:xfrm>
          <a:prstGeom prst="rect">
            <a:avLst/>
          </a:prstGeom>
          <a:solidFill>
            <a:srgbClr val="F9F5EA"/>
          </a:solidFill>
          <a:ln w="12700">
            <a:solidFill>
              <a:srgbClr val="D8D0C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0704" y="2093976"/>
            <a:ext cx="32918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050" b="1">
                <a:solidFill>
                  <a:srgbClr val="A3272C"/>
                </a:solidFill>
                <a:latin typeface="微软雅黑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0704" y="2386584"/>
            <a:ext cx="2904743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1">
                <a:solidFill>
                  <a:srgbClr val="17120D"/>
                </a:solidFill>
                <a:latin typeface="宋体"/>
              </a:rPr>
              <a:t>课堂小组研讨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0704" y="3063239"/>
            <a:ext cx="2904743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70000"/>
              </a:lnSpc>
            </a:pPr>
            <a:r>
              <a:rPr sz="1050" b="0">
                <a:solidFill>
                  <a:srgbClr val="5A5147"/>
                </a:solidFill>
                <a:latin typeface="微软雅黑"/>
              </a:rPr>
              <a:t>发言有次序，观点有记录。</a:t>
            </a:r>
          </a:p>
          <a:p>
            <a:pPr algn="l">
              <a:lnSpc>
                <a:spcPct val="170000"/>
              </a:lnSpc>
            </a:pPr>
            <a:r>
              <a:rPr sz="1050" b="0">
                <a:solidFill>
                  <a:srgbClr val="5A5147"/>
                </a:solidFill>
                <a:latin typeface="微软雅黑"/>
              </a:rPr>
              <a:t>老师能看见谁在什么时候改变了立场。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13504" y="1874519"/>
            <a:ext cx="3361943" cy="1847088"/>
          </a:xfrm>
          <a:prstGeom prst="rect">
            <a:avLst/>
          </a:prstGeom>
          <a:solidFill>
            <a:srgbClr val="F9F5EA"/>
          </a:solidFill>
          <a:ln w="12700">
            <a:solidFill>
              <a:srgbClr val="D8D0C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51247" y="2093976"/>
            <a:ext cx="32918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050" b="1">
                <a:solidFill>
                  <a:srgbClr val="A3272C"/>
                </a:solidFill>
                <a:latin typeface="微软雅黑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51247" y="2386584"/>
            <a:ext cx="2904743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1">
                <a:solidFill>
                  <a:srgbClr val="17120D"/>
                </a:solidFill>
                <a:latin typeface="宋体"/>
              </a:rPr>
              <a:t>英语辩论与口语训练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51247" y="3063239"/>
            <a:ext cx="2904743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70000"/>
              </a:lnSpc>
            </a:pPr>
            <a:r>
              <a:rPr sz="1050" b="0">
                <a:solidFill>
                  <a:srgbClr val="5A5147"/>
                </a:solidFill>
                <a:latin typeface="微软雅黑"/>
              </a:rPr>
              <a:t>立场由人格给定，不靠临场想。</a:t>
            </a:r>
          </a:p>
          <a:p>
            <a:pPr algn="l">
              <a:lnSpc>
                <a:spcPct val="170000"/>
              </a:lnSpc>
            </a:pPr>
            <a:r>
              <a:rPr sz="1050" b="0">
                <a:solidFill>
                  <a:srgbClr val="5A5147"/>
                </a:solidFill>
                <a:latin typeface="微软雅黑"/>
              </a:rPr>
              <a:t>可以先私下「通气」，练接招。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04047" y="1874519"/>
            <a:ext cx="3361943" cy="1847088"/>
          </a:xfrm>
          <a:prstGeom prst="rect">
            <a:avLst/>
          </a:prstGeom>
          <a:solidFill>
            <a:srgbClr val="F9F5EA"/>
          </a:solidFill>
          <a:ln w="12700">
            <a:solidFill>
              <a:srgbClr val="D8D0C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41791" y="2093976"/>
            <a:ext cx="32918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050" b="1">
                <a:solidFill>
                  <a:srgbClr val="A3272C"/>
                </a:solidFill>
                <a:latin typeface="微软雅黑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41791" y="2386584"/>
            <a:ext cx="2904743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1">
                <a:solidFill>
                  <a:srgbClr val="17120D"/>
                </a:solidFill>
                <a:latin typeface="宋体"/>
              </a:rPr>
              <a:t>议题讨论与写作构思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41791" y="3063239"/>
            <a:ext cx="2904743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70000"/>
              </a:lnSpc>
            </a:pPr>
            <a:r>
              <a:rPr sz="1050" b="0">
                <a:solidFill>
                  <a:srgbClr val="5A5147"/>
                </a:solidFill>
                <a:latin typeface="微软雅黑"/>
              </a:rPr>
              <a:t>先把分歧摆出来，再决定自己站哪边。</a:t>
            </a:r>
          </a:p>
          <a:p>
            <a:pPr algn="l">
              <a:lnSpc>
                <a:spcPct val="170000"/>
              </a:lnSpc>
            </a:pPr>
            <a:r>
              <a:rPr sz="1050" b="0">
                <a:solidFill>
                  <a:srgbClr val="5A5147"/>
                </a:solidFill>
                <a:latin typeface="微软雅黑"/>
              </a:rPr>
              <a:t>比一上来就找论据更接近真实思考。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2960" y="4370832"/>
            <a:ext cx="50292" cy="932688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60704" y="4407408"/>
            <a:ext cx="10268711" cy="8778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80000"/>
              </a:lnSpc>
            </a:pPr>
            <a:r>
              <a:rPr sz="1300" b="0">
                <a:solidFill>
                  <a:srgbClr val="17120D"/>
                </a:solidFill>
                <a:latin typeface="微软雅黑"/>
              </a:rPr>
              <a:t>为什么这些场景成立：门外谈不是一个聊天玩具，是一张有规则的桌子。</a:t>
            </a:r>
          </a:p>
          <a:p>
            <a:pPr algn="l">
              <a:lnSpc>
                <a:spcPct val="180000"/>
              </a:lnSpc>
            </a:pPr>
            <a:r>
              <a:rPr sz="1300" b="0">
                <a:solidFill>
                  <a:srgbClr val="17120D"/>
                </a:solidFill>
                <a:latin typeface="微软雅黑"/>
              </a:rPr>
              <a:t>规则固定下来，才能反复练习；反复练习，才谈得上训练。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960" y="6419088"/>
            <a:ext cx="54864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950" b="0">
                <a:solidFill>
                  <a:srgbClr val="9A9388"/>
                </a:solidFill>
                <a:latin typeface="微软雅黑"/>
              </a:rPr>
              <a:t>门外谈 · 作品编号 375993 · https://outgate.chat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68712" y="6419088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50000"/>
              </a:lnSpc>
            </a:pPr>
            <a:r>
              <a:rPr sz="1000" b="1">
                <a:solidFill>
                  <a:srgbClr val="9A9388"/>
                </a:solidFill>
                <a:latin typeface="微软雅黑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005840"/>
            <a:ext cx="3657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50" b="1" spc="180">
                <a:solidFill>
                  <a:srgbClr val="A3272C"/>
                </a:solidFill>
                <a:latin typeface="微软雅黑"/>
              </a:rPr>
              <a:t>15  六、在线体验</a:t>
            </a:r>
          </a:p>
        </p:txBody>
      </p:sp>
      <p:pic>
        <p:nvPicPr>
          <p:cNvPr id="5" name="Picture 4" descr="d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417320"/>
            <a:ext cx="4548642" cy="834644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822960" y="2834640"/>
            <a:ext cx="2926080" cy="28575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3127248"/>
            <a:ext cx="67665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85000"/>
              </a:lnSpc>
            </a:pPr>
            <a:r>
              <a:rPr sz="1400" b="0">
                <a:solidFill>
                  <a:srgbClr val="5A5147"/>
                </a:solidFill>
                <a:latin typeface="微软雅黑"/>
              </a:rPr>
              <a:t>outgate.chat　免费、无需注册，手机上也能用。</a:t>
            </a:r>
          </a:p>
          <a:p>
            <a:pPr algn="l">
              <a:lnSpc>
                <a:spcPct val="185000"/>
              </a:lnSpc>
            </a:pPr>
            <a:r>
              <a:rPr sz="1400" b="0">
                <a:solidFill>
                  <a:srgbClr val="5A5147"/>
                </a:solidFill>
                <a:latin typeface="微软雅黑"/>
              </a:rPr>
              <a:t>选择一个议题，请两三位入席，然后私下对其中一个人说点什么。</a:t>
            </a:r>
          </a:p>
        </p:txBody>
      </p:sp>
      <p:pic>
        <p:nvPicPr>
          <p:cNvPr id="8" name="Picture 7" descr="qr_clea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35440" y="1325880"/>
            <a:ext cx="1920240" cy="192024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9235440" y="3346704"/>
            <a:ext cx="19202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50000"/>
              </a:lnSpc>
            </a:pPr>
            <a:r>
              <a:rPr sz="1000" b="0">
                <a:solidFill>
                  <a:srgbClr val="9A9388"/>
                </a:solidFill>
                <a:latin typeface="微软雅黑"/>
              </a:rPr>
              <a:t>扫码直接进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4892040"/>
            <a:ext cx="67665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90000"/>
              </a:lnSpc>
            </a:pPr>
            <a:r>
              <a:rPr sz="1200" b="0">
                <a:solidFill>
                  <a:srgbClr val="5A5147"/>
                </a:solidFill>
                <a:latin typeface="微软雅黑"/>
              </a:rPr>
              <a:t>冯思涵 · 张耀羽　哈尔滨金融学院</a:t>
            </a:r>
          </a:p>
          <a:p>
            <a:pPr algn="l">
              <a:lnSpc>
                <a:spcPct val="190000"/>
              </a:lnSpc>
            </a:pPr>
            <a:r>
              <a:rPr sz="1200" b="0">
                <a:solidFill>
                  <a:srgbClr val="5A5147"/>
                </a:solidFill>
                <a:latin typeface="微软雅黑"/>
              </a:rPr>
              <a:t>指导教师：胡芳驰 · 霍镜宇　　作品编号：375993</a:t>
            </a:r>
          </a:p>
        </p:txBody>
      </p:sp>
      <p:pic>
        <p:nvPicPr>
          <p:cNvPr id="11" name="Picture 10" descr="d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960" y="5870448"/>
            <a:ext cx="1408419" cy="40386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822960" y="6419088"/>
            <a:ext cx="54864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950" b="0">
                <a:solidFill>
                  <a:srgbClr val="9A9388"/>
                </a:solidFill>
                <a:latin typeface="微软雅黑"/>
              </a:rPr>
              <a:t>门外谈 · 作品编号 375993 · https://outgate.chat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68712" y="6419088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50000"/>
              </a:lnSpc>
            </a:pPr>
            <a:r>
              <a:rPr sz="1000" b="1">
                <a:solidFill>
                  <a:srgbClr val="9A9388"/>
                </a:solidFill>
                <a:latin typeface="微软雅黑"/>
              </a:rPr>
              <a:t>17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